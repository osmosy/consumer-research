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7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86868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8F9DB2"/>
                </a:solidFill>
                <a:latin typeface="Inter"/>
              </a:rPr>
              <a:t>СВОДНЫЙ РАЗБОР · 25 ОКТЯБРЯ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Inter"/>
              </a:rPr>
              <a:t>Три агента — одна колода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1284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C6CFDB"/>
                </a:solidFill>
                <a:latin typeface="Inter"/>
              </a:rPr>
              <a:t>Инкофуд «Исследование потребителя», октябрь 2026: где работы Клода, Грока и Гемини
совпадают, где расходятся и что каждый увидел в одиночку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246120"/>
            <a:ext cx="1828800" cy="45720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3703320"/>
            <a:ext cx="3337560" cy="1143000"/>
          </a:xfrm>
          <a:prstGeom prst="roundRect">
            <a:avLst/>
          </a:prstGeom>
          <a:noFill/>
          <a:ln w="15875">
            <a:solidFill>
              <a:srgbClr val="2F5F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3703320"/>
            <a:ext cx="64008" cy="1143000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822191"/>
            <a:ext cx="2971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2F5FE3"/>
                </a:solidFill>
                <a:latin typeface="Inter"/>
              </a:rPr>
              <a:t>AGENT 1 · Клод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4087368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C6CFDB"/>
                </a:solidFill>
                <a:latin typeface="Inter"/>
              </a:rPr>
              <a:t>PPTX 25 слайдов + MD 382 строки
ID-схема, calc, confidence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3703320"/>
            <a:ext cx="3337560" cy="1143000"/>
          </a:xfrm>
          <a:prstGeom prst="roundRect">
            <a:avLst/>
          </a:prstGeom>
          <a:noFill/>
          <a:ln w="15875">
            <a:solidFill>
              <a:srgbClr val="0E9C8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3703320"/>
            <a:ext cx="64008" cy="1143000"/>
          </a:xfrm>
          <a:prstGeom prst="rect">
            <a:avLst/>
          </a:prstGeom>
          <a:solidFill>
            <a:srgbClr val="0E9C8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3822191"/>
            <a:ext cx="2971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E9C8F"/>
                </a:solidFill>
                <a:latin typeface="Inter"/>
              </a:rPr>
              <a:t>AGENT 2 · Грок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4087368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C6CFDB"/>
                </a:solidFill>
                <a:latin typeface="Inter"/>
              </a:rPr>
              <a:t>PPTX 12 слайдов + MD 85 строк
компактный синтез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46136" y="3703320"/>
            <a:ext cx="3337560" cy="1143000"/>
          </a:xfrm>
          <a:prstGeom prst="roundRect">
            <a:avLst/>
          </a:prstGeom>
          <a:noFill/>
          <a:ln w="15875">
            <a:solidFill>
              <a:srgbClr val="D1820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46136" y="3703320"/>
            <a:ext cx="64008" cy="1143000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79" y="3822191"/>
            <a:ext cx="2971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D1820E"/>
                </a:solidFill>
                <a:latin typeface="Inter"/>
              </a:rPr>
              <a:t>AGENT 3 · Гемини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4087368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C6CFDB"/>
                </a:solidFill>
                <a:latin typeface="Inter"/>
              </a:rPr>
              <a:t>PDF 11 страниц + PPTX 12 + MD 181
максимум продуктовых деталей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5321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9DB2"/>
                </a:solidFill>
                <a:latin typeface="Inter"/>
              </a:rPr>
              <a:t>База: github.com/Osmosy/Consumer-research · 7 колод, 260 слайдов, 2 758 строк данных · колода inkofood-2026: 69 слайдов, 900 респондентов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89788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9DB2"/>
                </a:solidFill>
                <a:latin typeface="Inter"/>
              </a:rPr>
              <a:t>Каждое спорное число сверено с текстовым слоем колоды (decks/&lt;slug&gt;/deck.json) и data/values.csv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МЕТОД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Что именно сравнивалось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Три независимые работы по одной и той же колоде, у каждой — презентация и машинно-читаемый файл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965960"/>
            <a:ext cx="3291840" cy="278892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965960"/>
            <a:ext cx="3291840" cy="68580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1671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F5FE3"/>
                </a:solidFill>
                <a:latin typeface="Inter"/>
              </a:rPr>
              <a:t>Agent 1 · Клод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569464"/>
            <a:ext cx="2834640" cy="2011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PPTX: 25 слайдов, 18,8 тыс. знаков</a:t>
            </a:r>
          </a:p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MD: 382 строки, 37,7 КБ</a:t>
            </a:r>
          </a:p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ID у каждого пункта: F / I / A / X / Y / L / R / T</a:t>
            </a:r>
          </a:p>
          <a:p>
            <a:pPr marL="237744" indent="-237744">
              <a:lnSpc>
                <a:spcPct val="112000"/>
              </a:lnSpc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calc — расчёт с формулой; confidence — уровень уверенности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42232" y="1965960"/>
            <a:ext cx="3291840" cy="278892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42232" y="1965960"/>
            <a:ext cx="3291840" cy="68580"/>
          </a:xfrm>
          <a:prstGeom prst="rect">
            <a:avLst/>
          </a:prstGeom>
          <a:solidFill>
            <a:srgbClr val="0E9C8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61688" y="21671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9C8F"/>
                </a:solidFill>
                <a:latin typeface="Inter"/>
              </a:rPr>
              <a:t>Agent 2 · Грок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2569464"/>
            <a:ext cx="2834640" cy="2011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PPTX: 12 слайдов, 7,6 тыс. знаков</a:t>
            </a:r>
          </a:p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MD: 85 строк, 9,8 КБ</a:t>
            </a:r>
          </a:p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Ссылка на источник — в подвале блока: «слайды 4–12»</a:t>
            </a:r>
          </a:p>
          <a:p>
            <a:pPr marL="237744" indent="-237744">
              <a:lnSpc>
                <a:spcPct val="112000"/>
              </a:lnSpc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Сквозной нумерации пунктов и пометок нет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6096" y="1965960"/>
            <a:ext cx="3291840" cy="278892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26096" y="1965960"/>
            <a:ext cx="3291840" cy="68580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45552" y="21671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1820E"/>
                </a:solidFill>
                <a:latin typeface="Inter"/>
              </a:rPr>
              <a:t>Agent 3 · Гемини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45552" y="2569464"/>
            <a:ext cx="2834640" cy="2011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PDF: 11 страниц A4, 48 тыс. знаков</a:t>
            </a:r>
          </a:p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PPTX 12 сл.; MD 181 стр., 49,8 КБ</a:t>
            </a:r>
          </a:p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Ссылки на .md-файлы колод в GitHub</a:t>
            </a:r>
          </a:p>
          <a:p>
            <a:pPr marL="237744" indent="-237744">
              <a:lnSpc>
                <a:spcPct val="112000"/>
              </a:lnSpc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JSON-схема из 28 метрик с машинными ключами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047488"/>
            <a:ext cx="10881360" cy="1170432"/>
          </a:xfrm>
          <a:prstGeom prst="rect">
            <a:avLst/>
          </a:prstGeom>
          <a:noFill/>
          <a:ln w="12700">
            <a:solidFill>
              <a:srgbClr val="D5DC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5193792"/>
            <a:ext cx="10424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E1726"/>
                </a:solidFill>
                <a:latin typeface="Inter"/>
              </a:rPr>
              <a:t>Как проверялось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548640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06B7A"/>
                </a:solidFill>
                <a:latin typeface="Inter"/>
              </a:rPr>
              <a:t>Каждое спорное утверждение сверялось с первоисточником: decks/&lt;slug&gt;/deck.json (текстовый слой PDF, восстановленный в репозитории), decks/&lt;slug&gt;/&lt;slug&gt;.md и data/values.csv. Оценки «не подтверждается» означают, что значения нет ни на одном слайде колоды — ни в таблицах, ни в подписях, ни в примечаниях.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СРАВНЕНИЕ ФОРМАТОВ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Три работы рядом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Форма важнее объёма: проверяемость зависит от того, как оформлена ссылка на источник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74519"/>
          <a:ext cx="10881360" cy="3931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8840"/>
                <a:gridCol w="3063240"/>
                <a:gridCol w="2606040"/>
                <a:gridCol w="306324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Критерий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1 · Клод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2 · Грок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3 · Гемини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Файлы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PPTX 25 сл. + MD 382 стр.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PPTX 12 сл. + MD 85 стр.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PDF 11 стр. + PPTX 12 сл. + MD 181 стр.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Объём текста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18,8 тыс. знаков / 37,7 КБ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7,6 тыс. / 9,8 КБ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9,1 тыс. / 49,8 КБ (плотные таблицы)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Ссылка на источник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deck=…, page=N у каждого пункта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«Слайды 4–12» в подвале блока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на .md-файл колоды, номер слайда — редко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Нумерация пунктов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F / I / A / X / Y / L / R / T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нет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ключи метрик в JSON-схеме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Пометки значений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calc (расчёт) + confidence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нет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«расчёт по слайду» в скобках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Противоречия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12: 6 между колодами + 6 внутри колоды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5 «нюансов», без цифр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5, каждое с готовым решением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Архитектура брендов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БТ + Natura + «Гостинец» (линия)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БТ + Natura, без архитектуры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БТ + Natura + «Инкофуд» (корп. / СТМ)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План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0–3 / 3–6 / 6–12 мес. + 4 теста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next steps без сроков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1–3 / 3–6 / 6–12 мес.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Пригодность для агента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высокая: ссылка и уверенность у каждого пункта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средняя: контекст есть, проверка вручную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средняя: детали есть, часть цифр без опоры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ПРОВЕРКА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Сколько утверждений выдержало сверку с колодой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Проверялось всё, где есть число или однозначный факт: 102 утверждения, из них 78 — у Гемини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956816"/>
            <a:ext cx="3401568" cy="13716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0312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F5FE3"/>
                </a:solidFill>
                <a:latin typeface="Inter"/>
              </a:rPr>
              <a:t>Agent 1 · Клод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5915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E1726"/>
                </a:solidFill>
                <a:latin typeface="Inter"/>
              </a:rPr>
              <a:t>17 / 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29443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606B7A"/>
                </a:solidFill>
                <a:latin typeface="Inter"/>
              </a:rPr>
              <a:t>все подтверждены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956816"/>
            <a:ext cx="3401568" cy="13716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210312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E9C8F"/>
                </a:solidFill>
                <a:latin typeface="Inter"/>
              </a:rPr>
              <a:t>Agent 2 · Грок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35915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E1726"/>
                </a:solidFill>
                <a:latin typeface="Inter"/>
              </a:rPr>
              <a:t>5 / 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9443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606B7A"/>
                </a:solidFill>
                <a:latin typeface="Inter"/>
              </a:rPr>
              <a:t>2 искажения, ошибок в числах нет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1956816"/>
            <a:ext cx="3401568" cy="13716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11312" y="210312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1820E"/>
                </a:solidFill>
                <a:latin typeface="Inter"/>
              </a:rPr>
              <a:t>Agent 3 · Гемини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1312" y="235915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E1726"/>
                </a:solidFill>
                <a:latin typeface="Inter"/>
              </a:rPr>
              <a:t>44 / 78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11312" y="29443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606B7A"/>
                </a:solidFill>
                <a:latin typeface="Inter"/>
              </a:rPr>
              <a:t>6 искажений, 28 значений в колоде нет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58368" y="3611880"/>
          <a:ext cx="6537960" cy="21214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46120"/>
                <a:gridCol w="1097280"/>
                <a:gridCol w="1097280"/>
                <a:gridCol w="1097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Блок проверок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3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Демография и профиль выборки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 / 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0 / 7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Драйверы, частоты, репертуар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 / 1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3 / 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11 / 11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Бренды, неймы, воронка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 / 2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 / 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Макро-рынок, каналы, СТМ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 / 6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 / 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7 / 20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Продукт: нарезка, сервелат, упаковка, премиум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 / 2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0 / 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19 / 27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Поколения (ЭКОПСИ)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0 / 1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 / 5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7452360" y="3611880"/>
            <a:ext cx="4087368" cy="23317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3758184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E1726"/>
                </a:solidFill>
                <a:latin typeface="Inter"/>
              </a:rPr>
              <a:t>Где именно ломается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050791"/>
            <a:ext cx="3657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606B7A"/>
                </a:solidFill>
                <a:latin typeface="Inter"/>
              </a:rPr>
              <a:t>Ключ к разнице — не объём, а адрес ошибки.
У Гемини 11 из 11 в поведении и 19 из 27 в продукте — там он читал колоду. И 0 из 7 в демографии, 1 из 5 в поколениях, 11 отсутствующих значений из 20 в макро — там он переносил цифры из других колод.
У Клода не разошлось ни одно из 17 утверждений. У Грока все числа верны; спорны две трактовки.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05332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06B7A"/>
                </a:solidFill>
                <a:latin typeface="Inter"/>
              </a:rPr>
              <a:t>Полный перечень 102 проверок — в пояснении к презентации, приложение 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7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E8A5F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017520"/>
            <a:ext cx="9875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Inter"/>
              </a:rPr>
              <a:t>Совпадения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886200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C6CFDB"/>
                </a:solidFill>
                <a:latin typeface="Inter"/>
              </a:rPr>
              <a:t>Десять тезисов, которые воспроизвели все трое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029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8F9DB2"/>
                </a:solidFill>
                <a:latin typeface="Inter"/>
              </a:rPr>
              <a:t>Совпадает не только вывод, но и числа: 12 показателей названы всеми тремя и сходятся с колодой.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333F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СОВПАДЕНИЯ · 1 ИЗ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Ядро консенсуса: где все трое говорят одно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Шесть тезисов, которые независимо воспроизвели Клод, Грок и Гемини — с числами из колоды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93392"/>
            <a:ext cx="10698480" cy="4114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8000"/>
              </a:lnSpc>
              <a:spcAft>
                <a:spcPts val="3312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Семейная повседневная категория.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Покупают для себя и семьи 76,7% в РФ и 78,1% в РБ — совпадают все трое (слайд 5).</a:t>
            </a:r>
          </a:p>
          <a:p>
            <a:pPr marL="237744" indent="-237744">
              <a:lnSpc>
                <a:spcPct val="118000"/>
              </a:lnSpc>
              <a:spcAft>
                <a:spcPts val="3312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Ритм покупки.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Ежедневно 15,7% / 20,9%, 2–3 раза в неделю 50,7% / 55,8% (слайд 4).</a:t>
            </a:r>
          </a:p>
          <a:p>
            <a:pPr marL="237744" indent="-237744">
              <a:lnSpc>
                <a:spcPct val="118000"/>
              </a:lnSpc>
              <a:spcAft>
                <a:spcPts val="3312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Сценарий-лидер разный по странам.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В РФ — завтрак (60,3%, драйвер 62,3%), в РБ — быстрый перекус (53,5%) (слайды 6, 9).</a:t>
            </a:r>
          </a:p>
          <a:p>
            <a:pPr marL="237744" indent="-237744">
              <a:lnSpc>
                <a:spcPct val="118000"/>
              </a:lnSpc>
              <a:spcAft>
                <a:spcPts val="3312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Бренд не причина покупки.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Известность бренда важна 25,5% / 9,7%, тогда как вкус — 66,0% / 57,4%, качество — 65,3% / 61,9% (слайд 8).</a:t>
            </a:r>
          </a:p>
          <a:p>
            <a:pPr marL="237744" indent="-237744">
              <a:lnSpc>
                <a:spcPct val="118000"/>
              </a:lnSpc>
              <a:spcAft>
                <a:spcPts val="3312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Свежесть — барьер №1.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«Недостаточно свежий продукт» 67,8% / 66,5%; запах как повод для разочарования — 64% / 65% (слайды 13–15).</a:t>
            </a:r>
          </a:p>
          <a:p>
            <a:pPr marL="237744" indent="-237744">
              <a:lnSpc>
                <a:spcPct val="118000"/>
              </a:lnSpc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Упаковка = доверие.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Прозрачная нужна 72,7% / 74,2%, дата на лицевой стороне — 61,7% / 59,4%, непрозрачная отталкивает 63,2% / 60,0% (слайды 34–35).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СОВПАДЕНИЯ · 2 ИЗ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Ядро консенсуса: продолжение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Ещё четыре тезиса — и главный вывод о природе расхождений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93392"/>
            <a:ext cx="10698480" cy="3108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8000"/>
              </a:lnSpc>
              <a:spcAft>
                <a:spcPts val="2448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Вес пачки зависит от рынка.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РФ — 151–250 г (50,8%), РБ — 251–500 г (45,8%); 81–150 г берут 21,5% и 14,8% (слайд 36).</a:t>
            </a:r>
          </a:p>
          <a:p>
            <a:pPr marL="237744" indent="-237744">
              <a:lnSpc>
                <a:spcPct val="118000"/>
              </a:lnSpc>
              <a:spcAft>
                <a:spcPts val="2448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Белок работает как усилитель, но требует доказательств.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Важно 66,9% / 68,1%; клеймо «высокий белок» повышает покупку у 55,3% / 58,9%, при этом 21% видят маркетинг, 8% боятся сои (слайды 29–31).</a:t>
            </a:r>
          </a:p>
          <a:p>
            <a:pPr marL="237744" indent="-237744">
              <a:lnSpc>
                <a:spcPct val="118000"/>
              </a:lnSpc>
              <a:spcAft>
                <a:spcPts val="2448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Премиальная варёная возможна.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Концепт принимают 60,0% / 58,9% при заметном отличии; доплату за ГОСТ в основном ограничивают 10% (слайды 38, 43).</a:t>
            </a:r>
          </a:p>
          <a:p>
            <a:pPr marL="237744" indent="-237744">
              <a:lnSpc>
                <a:spcPct val="118000"/>
              </a:lnSpc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Свои бренды слабы в РФ, сильнее в РБ.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«Белорусская традиция»: знание 13,3% / 28,4%, покупка 2,7% / 7,7%. Natura: 12,3% / 16,8% и 2,0% / 5,8%. Барьеры — незнание (24,5% / 32,9%) и полка (17,5% / 15,8%), цена — 4,9% / 4,8% (слайды 50–51).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5138928"/>
            <a:ext cx="10881360" cy="100584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5138928"/>
            <a:ext cx="68580" cy="1005840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285232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E1726"/>
                </a:solidFill>
                <a:latin typeface="Inter"/>
              </a:rPr>
              <a:t>Вывод: три независимых чтения одной колоды дают одну и ту же картину. Расхождения начинаются не в колоде, а в двух местах — в переносе цифр из других колод и в стратегии, где любой выбор защитим данными лишь частично.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СОВПАДЕНИЯ · ЧИСЛА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Двенадцать чисел, которые назвали все трое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Галочка — утверждение есть у агента и совпадает с колодой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60" cy="3931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480560"/>
                <a:gridCol w="1417320"/>
                <a:gridCol w="1417320"/>
                <a:gridCol w="1188720"/>
                <a:gridCol w="777240"/>
                <a:gridCol w="777240"/>
                <a:gridCol w="8229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Показатель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РФ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РБ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Слайд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A3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Покупают для себя и семьи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76,7%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78,1%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Ежедневная покупка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15,7%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20,9%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2–3 раза в неделю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50,7%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55,8%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Ситуация «завтрак»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60,3%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41,3%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9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Вкус как фактор выбора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66,0%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57,4%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Барьер «несвежесть»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67,8%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66,5%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Прозрачная упаковка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72,7%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74,2%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34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Белок важен (топ-2)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66,9%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68,1%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29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Клеймо «белок» растит покупку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55,3%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58,9%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30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БТ: знание / покупка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13,3 / 2,7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28,4 / 7,7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50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Natura: знание / покупка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12,3 / 2,0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16,8 / 5,8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Протеин +19,8% в штуках (рынок)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+19,8%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nielsen 22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" y="605332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06B7A"/>
                </a:solidFill>
                <a:latin typeface="Inter"/>
              </a:rPr>
              <a:t>Последняя строка — nielsen-itogi-2025-vektory-2026, слайд 22: это ЗОЖ-батончики и мороженое, не мясо.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7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D1820E"/>
                </a:solidFill>
                <a:latin typeface="Inter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017520"/>
            <a:ext cx="9875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Inter"/>
              </a:rPr>
              <a:t>Расхождения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886200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C6CFDB"/>
                </a:solidFill>
                <a:latin typeface="Inter"/>
              </a:rPr>
              <a:t>Семь споров: от арифметики до архитектуры брендов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029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8F9DB2"/>
                </a:solidFill>
                <a:latin typeface="Inter"/>
              </a:rPr>
              <a:t>Из семи споров пять решаются сверкой с колодой и два остаются стратегическим выбором.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333F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Рынок: онлайн, СТМ и полка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Здесь спор решается сверкой: часть чисел Гемини точна, часть отсутствует в колоде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74519"/>
            <a:ext cx="5120640" cy="3017520"/>
          </a:xfrm>
          <a:prstGeom prst="roundRect">
            <a:avLst/>
          </a:prstGeom>
          <a:noFill/>
          <a:ln w="15875">
            <a:solidFill>
              <a:srgbClr val="C0332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01168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0332B"/>
                </a:solidFill>
                <a:latin typeface="Inter"/>
              </a:rPr>
              <a:t>Agent 3 · не сходится с колодой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40864"/>
            <a:ext cx="4709160" cy="2377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C0332B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«Онлайн вырос на +24,3%»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nielsen-fmcg: +35,0% в деньгах, +37,6% в упаковках (сл. 5, 11, 13).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C0332B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«Доля СТМ в продовольствии 13,8%»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15,3% и в 2025, и в 2026 (сл. 8). 13,8 — это молочка в упаковках, сл. 9.</a:t>
            </a:r>
          </a:p>
          <a:p>
            <a:pPr marL="237744" indent="-237744">
              <a:lnSpc>
                <a:spcPct val="115000"/>
              </a:lnSpc>
            </a:pPr>
            <a:r>
              <a:rPr sz="1050">
                <a:solidFill>
                  <a:srgbClr val="C0332B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«80% полки занято топ-брендами и СТМ»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в колоде: 80% продаж формируют 2,9% ключевых SKU (nielsen-itogi, сл. 15).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1874519"/>
            <a:ext cx="5550408" cy="30175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89320" y="1874519"/>
            <a:ext cx="68580" cy="3017520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201168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E8A5F"/>
                </a:solidFill>
                <a:latin typeface="Inter"/>
              </a:rPr>
              <a:t>Agent 3 · что сходится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340864"/>
            <a:ext cx="5029200" cy="2377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1008"/>
              </a:spcAft>
            </a:pPr>
            <a:r>
              <a:rPr sz="1050">
                <a:solidFill>
                  <a:srgbClr val="1E8A5F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Нильсен 2025: 11,7% = 11,0 инфляция + 0,8 реальный спрос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сл. 5, точно.</a:t>
            </a:r>
          </a:p>
          <a:p>
            <a:pPr marL="237744" indent="-237744">
              <a:lnSpc>
                <a:spcPct val="115000"/>
              </a:lnSpc>
              <a:spcAft>
                <a:spcPts val="1008"/>
              </a:spcAft>
            </a:pPr>
            <a:r>
              <a:rPr sz="1050">
                <a:solidFill>
                  <a:srgbClr val="1E8A5F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2026: 10,6% = 6,1 объём + 4,5 инфляция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nielsen-fmcg, сл. 3, точно.</a:t>
            </a:r>
          </a:p>
          <a:p>
            <a:pPr marL="237744" indent="-237744">
              <a:lnSpc>
                <a:spcPct val="115000"/>
              </a:lnSpc>
              <a:spcAft>
                <a:spcPts val="1008"/>
              </a:spcAft>
            </a:pPr>
            <a:r>
              <a:rPr sz="1050">
                <a:solidFill>
                  <a:srgbClr val="1E8A5F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СТМ 15% оборота, в онлайне больше 10%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15,2% и 10,2%, nielsen-itogi, сл. 33, 35.</a:t>
            </a:r>
          </a:p>
          <a:p>
            <a:pPr marL="237744" indent="-237744">
              <a:lnSpc>
                <a:spcPct val="115000"/>
              </a:lnSpc>
            </a:pPr>
            <a:r>
              <a:rPr sz="1050">
                <a:solidFill>
                  <a:srgbClr val="1E8A5F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Регионы растут быстрее столиц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Сибирь +12,1, Юг +12,7 против Центра +9,9 (сл. 5).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E1726"/>
                </a:solidFill>
                <a:latin typeface="Inter"/>
              </a:rPr>
              <a:t>Вердикт: A1 приводит 35,0% и №1 по вкладу в рост СТМ — сходится полностью. A3 верно описывает композицию роста рынка и ошибается в трёх конкретных числах, путая каналы и категории. A2 в этом блоке числа не приводит.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Демография выборки и место аудитории 55+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Самое дорогое расхождение: на нём у Гемини построено противоречие №1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60" cy="26151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/>
                <a:gridCol w="3108960"/>
                <a:gridCol w="2926080"/>
                <a:gridCol w="25146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Показатель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1 · Клод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3 · Гемини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Колода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Пол (РФ)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8A5F"/>
                          </a:solidFill>
                          <a:latin typeface="Inter"/>
                        </a:rPr>
                        <a:t>61% женщины / 39% мужчины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C0332B"/>
                          </a:solidFill>
                          <a:latin typeface="Inter"/>
                        </a:rPr>
                        <a:t>54% / 46%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61 / 39 · слайд 65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Дети до 18 лет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8A5F"/>
                          </a:solidFill>
                          <a:latin typeface="Inter"/>
                        </a:rPr>
                        <a:t>52% (вся база)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C0332B"/>
                          </a:solidFill>
                          <a:latin typeface="Inter"/>
                        </a:rPr>
                        <a:t>42% РФ / 45% РБ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52% · слайд 65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Доход «хватает на всё»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8A5F"/>
                          </a:solidFill>
                          <a:latin typeface="Inter"/>
                        </a:rPr>
                        <a:t>70% (65,2 + 4,8)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C0332B"/>
                          </a:solidFill>
                          <a:latin typeface="Inter"/>
                        </a:rPr>
                        <a:t>68% РФ / 62% РБ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65,2 + 4,8 · слайд 68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Возрастные группы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8A5F"/>
                          </a:solidFill>
                          <a:latin typeface="Inter"/>
                        </a:rPr>
                        <a:t>8 групп от 21–24 до «Untitled 1»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C0332B"/>
                          </a:solidFill>
                          <a:latin typeface="Inter"/>
                        </a:rPr>
                        <a:t>4 группы: 12 / 28 / 31 / 29%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4,3 … 13,8 + 10,2% · слайд 66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Доля 55+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8A5F"/>
                          </a:solidFill>
                          <a:latin typeface="Inter"/>
                        </a:rPr>
                        <a:t>≈10,2% + 2,8% пенсионеров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C0332B"/>
                          </a:solidFill>
                          <a:latin typeface="Inter"/>
                        </a:rPr>
                        <a:t>0% — «старше 55 не включалась»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10,2% · слайд 66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Города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8A5F"/>
                          </a:solidFill>
                          <a:latin typeface="Inter"/>
                        </a:rPr>
                        <a:t>не детализирует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C0332B"/>
                          </a:solidFill>
                          <a:latin typeface="Inter"/>
                        </a:rPr>
                        <a:t>Москва 300, СПб 150, Екб 150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только «РФ 600 / РБ 300» · слайд 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58368" y="4800600"/>
            <a:ext cx="5349240" cy="132588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937760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Клод читает последний столбец как 55+ (10,2%) и выносит это в ограничение L-01: 10% в выборке против 36% в панели РОМИР. Тезис верный, формулировка аккуратная.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4800600"/>
            <a:ext cx="5349240" cy="132588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4937760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Гемини объявляет 55+ отсутствующими, чтобы построить противоречие. Вывод о недоборе верен, но основание ложное — и вся арифметика демографии (пол, дети, доход) не из этой колоды.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Метрики брендов и продуктовых блоков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Тут картина смешанная: у Гемини есть точные уникальные цифры и есть числа, которых в колоде нет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60" cy="31272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2514600"/>
                <a:gridCol w="822960"/>
                <a:gridCol w="2377440"/>
                <a:gridCol w="214884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Показатель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3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Факт по колоде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Natura: атрибут «натуральный»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15,1%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25,2%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15,1% · слайд 60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БТ: доля оценок 9–10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30% (calc)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«66,7% ставят 7–10»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30,3% (9–10), 58,5% (7–10) · слайд 53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Сервелат: еженедельно и чаще, РБ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≈30%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24,2%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29,6% · слайд 25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Нарезка: главный барьер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трудно открыть 34% / не закрыть 28%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переплата 58,2%, привычка резать 51,4%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34% / 28% · слайд 23; 58,2% в колоде нет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Премиум: скептики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32,7% РФ / 36,3% РБ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32,7% / 36,3% · слайд 38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Упаковка: «о производителе»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46,2% РФ / 38,7% РБ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46,2% / 38,7% · слайд 34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Вес 81–150 г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21,5% РФ / 14,8% РБ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21,5% / 14,8% · слайд 36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" y="553212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Практический вывод: продуктовые детали (нарезка, сервелат, премиум, вес) полнее всех у Гемини и почти все подтверждаются — 19 из 27 в продуктовом блоке. Ошибки у него сидят в атрибутах брендов: Natura «натуральный», оценки «Белорусской традиции», сервелат в РБ. У Клода сходится всё, но деталей меньше; Грок этот блок почти не разбирает.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Два вопроса, где агенты разошлись по существу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Не арифметика, а трактовка данных — здесь важнее аргумент, чем число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828800"/>
            <a:ext cx="5349240" cy="2788920"/>
          </a:xfrm>
          <a:prstGeom prst="rect">
            <a:avLst/>
          </a:prstGeom>
          <a:noFill/>
          <a:ln w="12700">
            <a:solidFill>
              <a:srgbClr val="D5DC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19659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1726"/>
                </a:solidFill>
                <a:latin typeface="Inter"/>
              </a:rPr>
              <a:t>Поколения: есть различие или нет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286000"/>
            <a:ext cx="48463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9C8F"/>
                </a:solidFill>
                <a:latin typeface="Inter"/>
              </a:rPr>
              <a:t>Грок: «поколенческие различия в вовлечённости и ценностях» — и на этом строит дифференциацию сообщений по возрасту.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2907792"/>
            <a:ext cx="4846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ЭКОПСИ, слайд 19: «отличий между поколениями нет», «молодые сейчас и 10 лет назад одинаковые», теория поколений — «не научная теория, а популярная типология». Клод приводит это как противоречие X-06, Гемини — как основание сегментировать по этапу жизни.
Вердикт: Грок против источника; Клод и Гемини совпадают с колодой.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0488" y="1828800"/>
            <a:ext cx="5349240" cy="2788920"/>
          </a:xfrm>
          <a:prstGeom prst="rect">
            <a:avLst/>
          </a:prstGeom>
          <a:noFill/>
          <a:ln w="12700">
            <a:solidFill>
              <a:srgbClr val="D5DC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9659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1726"/>
                </a:solidFill>
                <a:latin typeface="Inter"/>
              </a:rPr>
              <a:t>«Продукт без нитритной соли» как преимущество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286000"/>
            <a:ext cx="48463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9C8F"/>
                </a:solidFill>
                <a:latin typeface="Inter"/>
              </a:rPr>
              <a:t>Грок предлагает взять это в точки дифференциации — наравне с Easy-Peel и натуральными ингредиентами.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2907792"/>
            <a:ext cx="4846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Слайд 42: «без нитритной соли» считают маркетинговым ходом 60,7% в РФ и 58,7% в РБ; реальным преимуществом — 39,3% и 41,3%. Натуральные красители дают 65,0% / 76,1%, Easy-Peel — 64,2% / 71,6%.
Вердикт: данные против Грока. Клод это учёл (R-11: не делать «без нитрита» главным обещанием), Гемини построил на этом противоречие №2.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С чего начинать: полка, узнаваемость или промо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Здесь нет правых по факту — есть разные ставки, и данные позволяют их взвесить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74519"/>
            <a:ext cx="3401568" cy="1691640"/>
          </a:xfrm>
          <a:prstGeom prst="roundRect">
            <a:avLst/>
          </a:prstGeom>
          <a:noFill/>
          <a:ln w="15875">
            <a:solidFill>
              <a:srgbClr val="2F5F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1168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2F5FE3"/>
                </a:solidFill>
                <a:latin typeface="Inter"/>
              </a:rPr>
              <a:t>Agent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286000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Сначала наличие на полке и упаковка, потом медиа. Бюджет — в дистрибуцию, а не в рекламу.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1874519"/>
            <a:ext cx="3401568" cy="1691640"/>
          </a:xfrm>
          <a:prstGeom prst="roundRect">
            <a:avLst/>
          </a:prstGeom>
          <a:noFill/>
          <a:ln w="15875">
            <a:solidFill>
              <a:srgbClr val="0E9C8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201168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E9C8F"/>
                </a:solidFill>
                <a:latin typeface="Inter"/>
              </a:rPr>
              <a:t>Agent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286000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Приоритет №1 — awareness + distribution: дегустации, сэмплы, работа с сетями по заметности.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73568" y="1874519"/>
            <a:ext cx="3401568" cy="1691640"/>
          </a:xfrm>
          <a:prstGeom prst="roundRect">
            <a:avLst/>
          </a:prstGeom>
          <a:noFill/>
          <a:ln w="15875">
            <a:solidFill>
              <a:srgbClr val="D1820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3024" y="201168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D1820E"/>
                </a:solidFill>
                <a:latin typeface="Inter"/>
              </a:rPr>
              <a:t>Agent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3024" y="2286000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Промо-трейл со скидкой 15–20% на входе в сеть, E-com first, GEO-разметка под ИИ-поиск.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749039"/>
            <a:ext cx="10881360" cy="141732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3877056"/>
            <a:ext cx="10332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E1726"/>
                </a:solidFill>
                <a:latin typeface="Inter"/>
              </a:rPr>
              <a:t>Что говорит колода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169663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864"/>
              </a:spcAft>
            </a:pPr>
            <a:r>
              <a:rPr sz="1050">
                <a:solidFill>
                  <a:srgbClr val="0E1726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Причина непокупки №1 — незнание бренда: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24,5% («Белорусская традиция») и 32,9% (Natura). №2 — доступность и заметность в магазине: 17,5% и 15,8%. Цена — 4,9% и 4,8% (слайд 51).</a:t>
            </a:r>
          </a:p>
          <a:p>
            <a:pPr marL="237744" indent="-237744">
              <a:lnSpc>
                <a:spcPct val="115000"/>
              </a:lnSpc>
            </a:pPr>
            <a:r>
              <a:rPr sz="1050">
                <a:solidFill>
                  <a:srgbClr val="0E1726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Цена при выборе в РФ важнее, чем в РБ: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60,2% против 51,6%, акции — 39,0% против 17,4% (слайд 8); ценовой барьер — 53,2% против 37,4% (слайд 13).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349240"/>
            <a:ext cx="10881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Взвешивание: скидка 15–20% бьёт по цене, которая не является причиной непокупки своих брендов, — она решает другую задачу (пробный триал). Наличие на полке — условие входа, узнаваемость — драйвер конверсии, поэтому Клод и Грок правы в приоритете, а механика Гемини годится как способ добрать первый опыт, но не как основа бюджета.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Архитектура портфеля: три разных ответа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Различие принципиальное: сколько брендов компания ведёт и какую роль даёт корпоративному имени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74519"/>
            <a:ext cx="3401568" cy="29718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874519"/>
            <a:ext cx="3401568" cy="68580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04825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F5FE3"/>
                </a:solidFill>
                <a:latin typeface="Inter"/>
              </a:rPr>
              <a:t>Agent 1 · Клод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395728"/>
            <a:ext cx="2971800" cy="2651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«Белорусская традиция» — флагман доверия, мейнстрим+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Natura — современная чистая этикетка, премиум, онлайн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«Беловежский гостинец» — не бренд, а подарочная линия под БТ</a:t>
            </a:r>
          </a:p>
          <a:p>
            <a:pPr marL="237744" indent="-237744">
              <a:lnSpc>
                <a:spcPct val="115000"/>
              </a:lnSpc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Опора: нейм 7,0 РФ / 6,3 РФ у Гостинца и 24% оценок 1–4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874519"/>
            <a:ext cx="3401568" cy="29718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1874519"/>
            <a:ext cx="3401568" cy="68580"/>
          </a:xfrm>
          <a:prstGeom prst="rect">
            <a:avLst/>
          </a:prstGeom>
          <a:solidFill>
            <a:srgbClr val="0E9C8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4" y="204825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E9C8F"/>
                </a:solidFill>
                <a:latin typeface="Inter"/>
              </a:rPr>
              <a:t>Agent 2 · Грок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2395728"/>
            <a:ext cx="2971800" cy="2651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Только два бренда: БТ и Natura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Роли не разведены: у обоих «качество, доверие, современность»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Ставка на awareness и trial, а не на структуру портфеля</a:t>
            </a:r>
          </a:p>
          <a:p>
            <a:pPr marL="237744" indent="-237744">
              <a:lnSpc>
                <a:spcPct val="115000"/>
              </a:lnSpc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Гостинец и корпоративное имя не рассматривает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1874519"/>
            <a:ext cx="3401568" cy="29718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73568" y="1874519"/>
            <a:ext cx="3401568" cy="68580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93024" y="204825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1820E"/>
                </a:solidFill>
                <a:latin typeface="Inter"/>
              </a:rPr>
              <a:t>Agent 3 · Гемини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3024" y="2395728"/>
            <a:ext cx="2971800" cy="2651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БТ — массовый флагман, ГОСТ-ядро, 180–250 г в РФ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Natura — Clean Label &amp; High-Protein, 100–150 г, Easy-Peel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«Инкофуд» — корпоративный зонтик и ко-брендовые / премиальные СТМ для сетей</a:t>
            </a:r>
          </a:p>
          <a:p>
            <a:pPr marL="237744" indent="-237744">
              <a:lnSpc>
                <a:spcPct val="115000"/>
              </a:lnSpc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Опора: спонтанное знание «Инко-Фуд» 6,5% в РБ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047488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Что видно по данным: Гостинец — единственный бренд с полярной реакцией (7,0 в РБ против 6,3 в РФ и 24% низких оценок), поэтому решение Клода «линия, а не третий бренд» опирается на цифры. Идея Гемини с корпоративным зонтиком опирается только на спонтанное знание 6,5% в РБ — в колоде нет ни одного замера B2B или СТМ-восприятия, так что это гипотеза, а не вывод.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Сколько противоречий и какого они рода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Разный масштаб оптики: Клод ищет противоречия и внутри самой колоды, остальные — только между исследованиями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60" cy="21396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51760"/>
                <a:gridCol w="3063240"/>
                <a:gridCol w="2606040"/>
                <a:gridCol w="256032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Тип противоречия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1 · Клод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2 · Грок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3 · Гемини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E1726"/>
                          </a:solidFill>
                          <a:latin typeface="Inter"/>
                        </a:rPr>
                        <a:t>Между колодами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F5FE3"/>
                          </a:solidFill>
                          <a:latin typeface="Inter"/>
                        </a:rPr>
                        <a:t>6 (X-01 … X-06)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5 «нюансов», без нумерации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5, каждое с решением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E1726"/>
                          </a:solidFill>
                          <a:latin typeface="Inter"/>
                        </a:rPr>
                        <a:t>Внутри колоды Инкофуд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F5FE3"/>
                          </a:solidFill>
                          <a:latin typeface="Inter"/>
                        </a:rPr>
                        <a:t>6 (Y-01 … Y-06)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нет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нет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E1726"/>
                          </a:solidFill>
                          <a:latin typeface="Inter"/>
                        </a:rPr>
                        <a:t>Ограничения данных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F5FE3"/>
                          </a:solidFill>
                          <a:latin typeface="Inter"/>
                        </a:rPr>
                        <a:t>6 (L-01 … L-06)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нет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одно, как противоречие №1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E1726"/>
                          </a:solidFill>
                          <a:latin typeface="Inter"/>
                        </a:rPr>
                        <a:t>Формулировка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F5FE3"/>
                          </a:solidFill>
                          <a:latin typeface="Inter"/>
                        </a:rPr>
                        <a:t>сторона A / сторона B / интерпретация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тезис / антитезис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данные U&amp;A / данные рынка / решение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E1726"/>
                          </a:solidFill>
                          <a:latin typeface="Inter"/>
                        </a:rPr>
                        <a:t>Опора на слайд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F5FE3"/>
                          </a:solidFill>
                          <a:latin typeface="Inter"/>
                        </a:rPr>
                        <a:t>у каждого пункта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нет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частично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" y="4224528"/>
            <a:ext cx="51206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Пересечение всех трёх: здоровье и белок, роль бренда, аудитория 55+, офлайн против e-com, поколения.
Только у Клода: настроение покупателя (оптимизм 105 против ИПУ −9), деликатесы (ранг 17 из 34 по готовности отказаться), сосиски (№1 по пенетрации 80,7%, но драйвер снижения рынка).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0488" y="4224528"/>
            <a:ext cx="5349240" cy="19202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0488" y="4224528"/>
            <a:ext cx="68580" cy="1920240"/>
          </a:xfrm>
          <a:prstGeom prst="rect">
            <a:avLst/>
          </a:prstGeom>
          <a:solidFill>
            <a:srgbClr val="C033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55664" y="4352544"/>
            <a:ext cx="48920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Шесть противоречий внутри колоды — самая дорогая находка, и она есть только у Клода: польза 8,2% против «готовы изменить вкус» 71,8%; «бренд не важен» против «незнание — главный барьер»; названия Natura против недоверия к «натуральный/эко»; красный цвет против «яркие цвета настораживают» 34,7%. Всё это меняет решения по упаковке и сообщению уже на этапе пилота.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ВЕРДИКТЫ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Кто прав по фактам: ключевые спорные утверждения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Сверка с текстовым слоем колоды. «—» значит, что агент этот пункт не разбирал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60" cy="37673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160520"/>
                <a:gridCol w="914400"/>
                <a:gridCol w="777240"/>
                <a:gridCol w="1783080"/>
                <a:gridCol w="324612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Утверждение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A3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Проверка по колоде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Онлайн-рынок FMCG вырос на 35,0% в деньгах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✘ (+24,3%)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nielsen-fmcg, слайды 5, 11, 13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Доля СТМ в продовольствии 15,3%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✘ (13,8%)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nielsen-fmcg, слайд 8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23% начинают поиск товара с генеративного AI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✘ («73%»)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sber-global, слайд 7; 73% — про AI в быту, слайд 9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«81% проверяют состав»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✘ нет в колоде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sber-global, слайд 15: 74% — это CMO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Пол 61/39, дети 52%, доход 70%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✘ (54/46, 42/45, 68%)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inkofood, слайды 65–68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55+ присутствуют в выборке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✔ ≈10,2%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✘ (0%)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inkofood, слайд 66 — столбец «Untitled 1»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Natura: «натуральный» 15,1%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✘ (25,2%)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inkofood, слайд 60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БТ: оценки 9–10 у 30%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✘ («66,7% 7–10»)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inkofood, слайд 53: 30,3% и 58,5%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Нарезка: трудно открыть 34%, не закрыть 28%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✘ (58,2% / 51,4%)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inkofood, слайд 23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Поколенческих различий нет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C0332B"/>
                          </a:solidFill>
                          <a:latin typeface="Inter"/>
                        </a:rPr>
                        <a:t>✘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ekopsi, слайд 19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Мясо 2025: +9,9% деньги, +3,7% упаковки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nielsen-itogi, слайд 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Покупка: 31–33% планируют, ~22% спонтанно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inkofood, слайд 20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" y="58064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E1726"/>
                </a:solidFill>
                <a:latin typeface="Inter"/>
              </a:rPr>
              <a:t>Счёт по этой таблице: Клод 8 из 8 (где участвовал), Грок 2 из 3, Гемини 1 из 9. Полный счёт по всем 102 проверкам — 17 из 17, 5 из 7 и 44 из 78 (приложение A пояснения).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7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2F5FE3"/>
                </a:solidFill>
                <a:latin typeface="Inter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017520"/>
            <a:ext cx="9875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Inter"/>
              </a:rPr>
              <a:t>Уникальное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886200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C6CFDB"/>
                </a:solidFill>
                <a:latin typeface="Inter"/>
              </a:rPr>
              <a:t>Что каждый увидел в одиночку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029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8F9DB2"/>
                </a:solidFill>
                <a:latin typeface="Inter"/>
              </a:rPr>
              <a:t>Двадцать одна находка, которой нет у других. Восемь — у Клода, шесть — у Грока, семь — у Гемини.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333F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УНИКАЛЬНОЕ · AGENT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Что увидел только Клод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Восемь находок, которых нет ни у Грока, ни у Гемини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20240"/>
            <a:ext cx="10698480" cy="43891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Ограничения данных как отдельный слой.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L-01: 55+ ≈10% в выборке против 36% в панели РОМИР; L-04: 9 растровых диаграмм прочитаны по рендеру; L-05: комментарии на слайдах 5 и 14 обрезаны в источнике.</a:t>
            </a:r>
          </a:p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Дефекты самой колоды.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Слайд 45 дублирует 44; слайд 17 дублирует российскую часть 46; последний возрастной столбец подписан «Untitled 1».</a:t>
            </a:r>
          </a:p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Шесть противоречий внутри колоды.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Польза мотивирует 8,2% / 1,3%, но изменить вкус ради пользы готовы 71,8% / 79,7%; «бренд не важен» против «незнание — барьер».</a:t>
            </a:r>
          </a:p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«Беловежский гостинец» разобран целиком.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6,3 в РФ против 7,0 в РБ, 24% оценок 1–4 в РФ → подарочная линия под БТ и отдельный тест в РФ (T-04).</a:t>
            </a:r>
          </a:p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Доплата за ГОСТ ограничена.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Готовы доплачивать 64,4% / 64,6%, но 35,5% / 40,9% — только на 1–10% → премия ≤10%.</a:t>
            </a:r>
          </a:p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Конверсия знания в покупку по 9 брендам.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Брестский МК 75%, Natura РБ 35%, БТ РБ 27%, БТ РФ 20%, Natura РФ 16% — видно, что узкое место — узнаваемость, а не продукт.</a:t>
            </a:r>
          </a:p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Настроение против спроса.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Индекс оптимизма 105 в IV кв. 2025 против ИПУ −9 в III кв. 2026, при реальном спросе +10,2% в августе 2026.</a:t>
            </a:r>
          </a:p>
          <a:p>
            <a:pPr marL="237744" indent="-237744">
              <a:lnSpc>
                <a:spcPct val="114000"/>
              </a:lnSpc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План работ и проверки до инвестиций.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Горизонты 0–3 / 3–6 / 6–12 месяцев и четыре теста: добрать 55+, проверить «готовность к пользе» на полке, ценовой тест 5% и 10%, тест Гостинца в РФ.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УНИКАЛЬНОЕ · AGENT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Что увидел только Грок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Шесть находок — работа компактнее, но в ней есть слайды, которые двое других не открыли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0E9C8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20240"/>
            <a:ext cx="10698480" cy="43891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0E9C8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Как покупают: план против импульса.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31,3% / 32,9% планируют покупку заранее, 22,2% / 21,9% готовы купить спонтанно, если продукт выглядит аппетитно (слайд 20) — ни у Клода, ни у Гемини этого слайда нет.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0E9C8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Второй период рынка.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Мясо за 2025 год: +9,9% в деньгах и +3,7% в упаковках (nielsen-itogi, слайд 8). Дополняет +7,7% за январь–август 2026 у Клода — это не спор, а два отрезка.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0E9C8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Разрез готовности к пользе.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17,4% «полностью готовы» + 54,4% «скорее готовы» (РФ): твёрдо готов каждый шестой, остальные — при условии. У Клода только сумма 71,8%.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0E9C8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Сцена потребления, а не цифра.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Идеальный образ из открытых ответов: бутерброд + чай или кофе + фильм или сериал; цитаты «вечер, я одна и колбаса» (слайды 11–12).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0E9C8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Сигнал против новинок.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«Нет потребности в новом продукте» — 24% (слайд 41). Грок трактует это как «рынок не ждёт новинок, он ждёт исполнения» — строже, чем остальные.</a:t>
            </a:r>
          </a:p>
          <a:p>
            <a:pPr marL="237744" indent="-237744">
              <a:lnSpc>
                <a:spcPct val="116000"/>
              </a:lnSpc>
            </a:pPr>
            <a:r>
              <a:rPr sz="1200">
                <a:solidFill>
                  <a:srgbClr val="0E9C8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Единственный, кто предложил мониторинг.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Регулярный U&amp;A плюс Nielsen sales tracking по целевым SKU и каналам — у двух других плана замеров нет.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УНИКАЛЬНОЕ · AGENT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Что увидел только Гемини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Самый подробный разбор продукта — с пометками: зелёное подтверждено колодой, красное нет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60" cy="35295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325880"/>
                <a:gridCol w="36118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Находка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Статус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Проверка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E1726"/>
                          </a:solidFill>
                          <a:latin typeface="Inter"/>
                        </a:rPr>
                        <a:t>Городская структура выборки: Москва 300, СПб 150, Екатеринбург 150; Минск 150, Брест 75, Гомель 75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C0332B"/>
                          </a:solidFill>
                          <a:latin typeface="Inter"/>
                        </a:rPr>
                        <a:t>не подтв.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E1726"/>
                          </a:solidFill>
                          <a:latin typeface="Inter"/>
                        </a:rPr>
                        <a:t>в колоде только «РФ 600 / РБ 300», слайд 2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E1726"/>
                          </a:solidFill>
                          <a:latin typeface="Inter"/>
                        </a:rPr>
                        <a:t>Декомпозиция рынка 2025: 11,7% = 11,0 инфляция + 0,8 реальный спрос; СТМ 15,2%, онлайн 10,2%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E1726"/>
                          </a:solidFill>
                          <a:latin typeface="Inter"/>
                        </a:rPr>
                        <a:t>nielsen-itogi, слайды 5, 33, 35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E1726"/>
                          </a:solidFill>
                          <a:latin typeface="Inter"/>
                        </a:rPr>
                        <a:t>Нарезка: ситуации — завтрак 64,3%, перекус 60,3%, дорога 49,8%, гости 49,7% (РФ); дорога 54,2% (РБ)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E1726"/>
                          </a:solidFill>
                          <a:latin typeface="Inter"/>
                        </a:rPr>
                        <a:t>слайд 19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E1726"/>
                          </a:solidFill>
                          <a:latin typeface="Inter"/>
                        </a:rPr>
                        <a:t>Нарезка: барьеры — переплата за упаковку 58,2% / 62,1%, привычка резать 51,4% / 55,0%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C0332B"/>
                          </a:solidFill>
                          <a:latin typeface="Inter"/>
                        </a:rPr>
                        <a:t>не подтв.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E1726"/>
                          </a:solidFill>
                          <a:latin typeface="Inter"/>
                        </a:rPr>
                        <a:t>слайд 23: трудно открыть ≈34%, не закрыть ≈28%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E1726"/>
                          </a:solidFill>
                          <a:latin typeface="Inter"/>
                        </a:rPr>
                        <a:t>Сервелат: частоты и коды сорта — пряный вкус 31%, шпик 23%, копчёность 20%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D1820E"/>
                          </a:solidFill>
                          <a:latin typeface="Inter"/>
                        </a:rPr>
                        <a:t>частично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E1726"/>
                          </a:solidFill>
                          <a:latin typeface="Inter"/>
                        </a:rPr>
                        <a:t>РФ верно (слайды 25–26), РБ — 31,6 / 31,6 / 29,6, а не 41,2 / 28,1 / 24,2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E1726"/>
                          </a:solidFill>
                          <a:latin typeface="Inter"/>
                        </a:rPr>
                        <a:t>Премиум: скептики 32,7% / 36,3%; цена 16,2% и упаковка 16,0% премию не делают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E1726"/>
                          </a:solidFill>
                          <a:latin typeface="Inter"/>
                        </a:rPr>
                        <a:t>слайды 38–39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E1726"/>
                          </a:solidFill>
                          <a:latin typeface="Inter"/>
                        </a:rPr>
                        <a:t>Сегменты 55–75: консервативные 31%, обеспеченные 23%, свободные 21%, усталые 19%, работящие 6%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E1726"/>
                          </a:solidFill>
                          <a:latin typeface="Inter"/>
                        </a:rPr>
                        <a:t>серебряный возраст, слайд 5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E1726"/>
                          </a:solidFill>
                          <a:latin typeface="Inter"/>
                        </a:rPr>
                        <a:t>Формула для упаковки: «18 г мясного белка из 100% говядины и индейки — 0% сои»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E8A5F"/>
                          </a:solidFill>
                          <a:latin typeface="Inter"/>
                        </a:rPr>
                        <a:t>готово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E1726"/>
                          </a:solidFill>
                          <a:latin typeface="Inter"/>
                        </a:rPr>
                        <a:t>операционализирует 21% скепсиса и 8% страха сои, слайд 31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" y="577900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E1726"/>
                </a:solidFill>
                <a:latin typeface="Inter"/>
              </a:rPr>
              <a:t>Итого: пять находок подтверждаются и ценны (декомпозиция рынка, сценарии нарезки, механика премиума, сегменты 55–75, формула белка), одна частично, две нет. Формула белка — единственная вещь во всех трёх работах, готовая к переносу в макет.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ОХВАТ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Матрица: кто какие блоки колоды разобрал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✔ — разобрано с цифрами, ~ — упомянуто без цифр или частично, — — не разобрано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A3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6400800" cy="395933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40480"/>
                <a:gridCol w="822960"/>
                <a:gridCol w="822960"/>
                <a:gridCol w="9144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Блок колоды (слайды)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A3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Демография и выборка (2, 64–69)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06B7A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Частоты, сценарии, покупка (4–12, 20)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Драйверы, барьеры, разочарования (6–15)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Нарезка (18–23)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06B7A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Сервелат (24–27)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06B7A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Высокий белок (28–31)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Упаковка, цвет, вес (32–36)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Премиум-варёная (37–39)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06B7A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Новинки и перекус on the go (41, 46–47)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06B7A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ГОСТ и Easy-Peel (42–43)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Бренды: воронка и причины (48–52)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Неймы и ассоциации (53–63)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06B7A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Соседние колоды: рынок и каналы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Соседние колоды: 55+ и поколения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06B7A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315200" y="1828800"/>
            <a:ext cx="4224528" cy="32004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52944" y="1975104"/>
            <a:ext cx="37490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E1726"/>
                </a:solidFill>
                <a:latin typeface="Inter"/>
              </a:rPr>
              <a:t>Что видно из матрицы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52944" y="2304288"/>
            <a:ext cx="3749039" cy="2560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1008"/>
              </a:spcAft>
            </a:pPr>
            <a:r>
              <a:rPr sz="1000">
                <a:solidFill>
                  <a:srgbClr val="0E1726"/>
                </a:solidFill>
                <a:latin typeface="Inter"/>
              </a:rPr>
              <a:t>▪  </a:t>
            </a:r>
            <a:r>
              <a:rPr sz="1000" b="1">
                <a:solidFill>
                  <a:srgbClr val="0E1726"/>
                </a:solidFill>
                <a:latin typeface="Inter"/>
              </a:rPr>
              <a:t>Полное покрытие — только у Клода.</a:t>
            </a:r>
            <a:r>
              <a:rPr sz="1000">
                <a:solidFill>
                  <a:srgbClr val="0E1726"/>
                </a:solidFill>
                <a:latin typeface="Inter"/>
              </a:rPr>
              <a:t> </a:t>
            </a:r>
            <a:r>
              <a:rPr sz="1000">
                <a:solidFill>
                  <a:srgbClr val="0E1726"/>
                </a:solidFill>
                <a:latin typeface="Inter"/>
              </a:rPr>
              <a:t>Все 15 блоков, ни одного пропуска.</a:t>
            </a:r>
          </a:p>
          <a:p>
            <a:pPr marL="237744" indent="-237744">
              <a:lnSpc>
                <a:spcPct val="115000"/>
              </a:lnSpc>
              <a:spcAft>
                <a:spcPts val="1008"/>
              </a:spcAft>
            </a:pPr>
            <a:r>
              <a:rPr sz="1000">
                <a:solidFill>
                  <a:srgbClr val="0E1726"/>
                </a:solidFill>
                <a:latin typeface="Inter"/>
              </a:rPr>
              <a:t>▪  </a:t>
            </a:r>
            <a:r>
              <a:rPr sz="1000" b="1">
                <a:solidFill>
                  <a:srgbClr val="0E1726"/>
                </a:solidFill>
                <a:latin typeface="Inter"/>
              </a:rPr>
              <a:t>У Грока провал в продукте.</a:t>
            </a:r>
            <a:r>
              <a:rPr sz="1000">
                <a:solidFill>
                  <a:srgbClr val="0E1726"/>
                </a:solidFill>
                <a:latin typeface="Inter"/>
              </a:rPr>
              <a:t> </a:t>
            </a:r>
            <a:r>
              <a:rPr sz="1000">
                <a:solidFill>
                  <a:srgbClr val="0E1726"/>
                </a:solidFill>
                <a:latin typeface="Inter"/>
              </a:rPr>
              <a:t>Нарезка, сервелат, премиум — без цифр; зато сценарии и покупка разобраны лучше всех.</a:t>
            </a:r>
          </a:p>
          <a:p>
            <a:pPr marL="237744" indent="-237744">
              <a:lnSpc>
                <a:spcPct val="115000"/>
              </a:lnSpc>
            </a:pPr>
            <a:r>
              <a:rPr sz="1000">
                <a:solidFill>
                  <a:srgbClr val="0E1726"/>
                </a:solidFill>
                <a:latin typeface="Inter"/>
              </a:rPr>
              <a:t>▪  </a:t>
            </a:r>
            <a:r>
              <a:rPr sz="1000" b="1">
                <a:solidFill>
                  <a:srgbClr val="0E1726"/>
                </a:solidFill>
                <a:latin typeface="Inter"/>
              </a:rPr>
              <a:t>У Гемини провал в неймах.</a:t>
            </a:r>
            <a:r>
              <a:rPr sz="1000">
                <a:solidFill>
                  <a:srgbClr val="0E1726"/>
                </a:solidFill>
                <a:latin typeface="Inter"/>
              </a:rPr>
              <a:t> </a:t>
            </a:r>
            <a:r>
              <a:rPr sz="1000">
                <a:solidFill>
                  <a:srgbClr val="0E1726"/>
                </a:solidFill>
                <a:latin typeface="Inter"/>
              </a:rPr>
              <a:t>Ассоциации и тесты названий — почти без деталей, хотя по продукту он глубже всех.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СИНТЕЗ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Что взять в работу из трёх работ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Десять решений: у каждого — автор и подтверждение по колоде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60" cy="41513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577840"/>
                <a:gridCol w="1965960"/>
                <a:gridCol w="33375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Решение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Откуда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Опора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1. Сначала наличие на полке и упаковка, потом медиа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 + A2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незнание 24,5 / 32,9%, полка 17,5 / 15,8% · сл. 51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2. Прозрачное окно, дата на лицевой, крупный шрифт, меньше обещаний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все трое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72,7 / 74,2%, 61,7 / 59,4%, 63,2 / 60,0% · сл. 34–35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3. Премиальная варёная «по ГОСТ» с % мяса и премией ≤10%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60,0 / 58,9% принимают; доплата 1–10% — 35,5 / 40,9% · сл. 38, 43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4. Натуральные красители вместо «без нитритной соли»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 (против A2)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65,0 / 76,1% против 39,3 / 41,3% · сл. 42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5. Белок только с цифрами: «X г белка, мяса Y%, 0% сои»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A3 (формула) + A1 + A2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21% видят маркетинг, 8% боятся сои · сл. 31, 44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6. Easy-Peel и повторное закрытие как стандарт нарезки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 + A3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трудно открыть ≈34%, не закрыть ≈28%; Easy-Peel 64,2 / 71,6% · сл. 23, 42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7. E-com и e-grocery — точка входа в РФ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A3 (числа A1)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онлайн +35,0%, мясо в онлайне +34,3%, доля 12,2% · сл. 5, 13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8. Карточка товара под ИИ-поиск: состав и сценарные теги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23% начинают поиск с генеративного AI · сл. 7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9. «Гостинец» — подарочная линия под БТ, в РФ после теста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7,0 РБ против 6,3 РФ, 24% оценок 1–4 · сл. 61–63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10. Добрать 55+ и проверить «готовность к пользе» на полке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 + A3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≈10% против 36% в панели; 71,8 / 79,7% декларации · сл. 66, 46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КРАСНЫЕ ФЛАГИ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Значений нет в колоде — в работу не переносить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Все — из работы Гемини; правдоподобны, поэтому опасны. Ниже — отдельным блоком шесть искажений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C033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60" cy="36804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709160"/>
                <a:gridCol w="6172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Утверждение Agent 3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Что в колоде на самом деле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Онлайн-рынок вырос на +24,3%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+35,0% в деньгах, +37,6% в упаковках · nielsen-fmcg, сл. 5, 11, 13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Доля СТМ в продовольствии 13,8%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15,3% и в 2025, и в 2026 · сл. 8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73% покупателей ищут через GEO и ИИ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23% начинают поиск с генеративного AI · сл. 7; 73% — «используют AI в быту» · сл. 9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81% проверяют составы «под микроскопом»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такого значения нет; 74% — это директора по маркетингу · сл. 15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58% готовы платить за прозрачность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58% — про курируемые впечатления и про стресс · сл. 22, 26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64% ритейлеров внедряют AI-агентов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такого значения нет · сл. 9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28% e-com у 50+, чек 3 450 ₽, 74% берут доставку, 22% ЗОЖ в корзине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ни одного из четырёх значений; блока про e-commerce в этой колоде нет · сл. 22–26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Пол 54/46, дети 42/45, доход 68/62, возраст 12/28/31/29, 55+ = 0%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61/39, дети 52%, доход 70%, восемь групп до «Untitled 1» 10,2% · сл. 65–68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ЭКОПСИ: Z — 23% рынка труда, Y — 54% руководителей, X — 41%, разрыв 3,8 из 5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ни одного из значений; вывод колоды обратный — «отличий между поколениями нет» · сл. 19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Нарезка 58,2% / 51,4%; сервелат РБ 41,2 / 28,1 / 24,2; «66,7% ставят 7–10»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34 / 28% · сл. 23; 31,6 / 31,6 / 29,6 · сл. 25; 58,5% · сл. 53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«48,2% пробуют новинки со скидкой», «92% мяса», «окно ≥60% площади»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ни одного из трёх значений в колоде нет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58368" y="5577840"/>
            <a:ext cx="10881360" cy="694944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5577840"/>
            <a:ext cx="68580" cy="694944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660136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726"/>
                </a:solidFill>
                <a:latin typeface="Inter"/>
              </a:rPr>
              <a:t>Шесть искажений (число есть, смысл другой): «80% продаж у топ-брендов» — в колоде 80% дают 2,9% SKU; СТМ «до 50% в категориях» — по колоде до 67,5%; «сыр и специи 13%» — необычные начинки; 180–250 / 350–500 г — в колоде 151–250 / 251–500; «1–20%+» — 1–20% это 55,0 / 56,6%; «68% со средним+ доходом» — 70% по всей базе, без разбивки.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ПРОБЕЛЫ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Чего не сделал никто из троих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Семь мест, где все три работы оставляют решение бизнесу без опоры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A3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20240"/>
            <a:ext cx="10698480" cy="43891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2A3545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Как добрать 55+.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Все фиксируют недобор, но план добора есть только у Клода одной строкой (T-01). Ни квоты, ни каналов рекрута, ни срока.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2A3545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Экономика решения.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Никто не считал ни цену премии, ни маржу, ни стоимость входа в сеть, ни порог окупаемости промо-трейла.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2A3545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Декларации приняты за поведение.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71,8% «готовы изменить вкус», 55,3% «белок повысит покупку» — полевой тест потребовал только Клод (T-02).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2A3545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СТМ как угроза и как возможность.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15,3% продовольствия и №1 по вкладу в рост — колбасы упакованные. Ко-брендинг с сетями предложил только Гемини, и без расчёта.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2A3545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Регионы.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Нильсен даёт разброс: Юг +12,7%, Сибирь и ДВ +12,1% против Центра +9,9%. Кто-то использовал это качественно (Гемини), но без плана входа.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2A3545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Сезонность и календарь промо.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Праздничный стол — 46,8% у сервелата и 26,0% в драйверах, но ни один не разложил год по пикам спроса.</a:t>
            </a:r>
          </a:p>
          <a:p>
            <a:pPr marL="237744" indent="-237744">
              <a:lnSpc>
                <a:spcPct val="116000"/>
              </a:lnSpc>
            </a:pPr>
            <a:r>
              <a:rPr sz="1200">
                <a:solidFill>
                  <a:srgbClr val="2A3545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Конкуренты.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«Ратимир» и «Окраина» усилили позиции в 2025, Брестский МК знают 89% в РБ — разобрано только у Клода и без выводов для брендов.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7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8F9DB2"/>
                </a:solidFill>
                <a:latin typeface="Inter"/>
              </a:rPr>
              <a:t>ЧТО ДАЛЬШЕ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>
                <a:solidFill>
                  <a:srgbClr val="FFFFFF"/>
                </a:solidFill>
                <a:latin typeface="Inter"/>
              </a:rPr>
              <a:t>Каркас — Клод, детали — Гемини,
сценарии и рынок 2025 — Грок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788920"/>
            <a:ext cx="1828800" cy="45720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0332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25000"/>
              </a:lnSpc>
              <a:spcAft>
                <a:spcPts val="1440"/>
              </a:spcAft>
            </a:pPr>
            <a:r>
              <a:rPr sz="1200">
                <a:solidFill>
                  <a:srgbClr val="1E8A5F"/>
                </a:solidFill>
                <a:latin typeface="Inter"/>
              </a:rPr>
              <a:t>▪  </a:t>
            </a:r>
            <a:r>
              <a:rPr sz="1200" b="1">
                <a:solidFill>
                  <a:srgbClr val="FFFFFF"/>
                </a:solidFill>
                <a:latin typeface="Inter"/>
              </a:rPr>
              <a:t>Каркас: работа Agent 1.</a:t>
            </a:r>
            <a:r>
              <a:rPr sz="1200">
                <a:solidFill>
                  <a:srgbClr val="DDE4EE"/>
                </a:solidFill>
                <a:latin typeface="Inter"/>
              </a:rPr>
              <a:t> </a:t>
            </a:r>
            <a:r>
              <a:rPr sz="1200">
                <a:solidFill>
                  <a:srgbClr val="DDE4EE"/>
                </a:solidFill>
                <a:latin typeface="Inter"/>
              </a:rPr>
              <a:t>Она единственная, где каждое утверждение имеет слайд, расчёт помечен, а сомнение оформлено как ограничение. На неё можно опереться в решениях.</a:t>
            </a:r>
          </a:p>
          <a:p>
            <a:pPr marL="237744" indent="-237744">
              <a:lnSpc>
                <a:spcPct val="125000"/>
              </a:lnSpc>
              <a:spcAft>
                <a:spcPts val="1440"/>
              </a:spcAft>
            </a:pPr>
            <a:r>
              <a:rPr sz="1200">
                <a:solidFill>
                  <a:srgbClr val="1E8A5F"/>
                </a:solidFill>
                <a:latin typeface="Inter"/>
              </a:rPr>
              <a:t>▪  </a:t>
            </a:r>
            <a:r>
              <a:rPr sz="1200" b="1">
                <a:solidFill>
                  <a:srgbClr val="FFFFFF"/>
                </a:solidFill>
                <a:latin typeface="Inter"/>
              </a:rPr>
              <a:t>Детали: работа Agent 3, только подтверждённое.</a:t>
            </a:r>
            <a:r>
              <a:rPr sz="1200">
                <a:solidFill>
                  <a:srgbClr val="DDE4EE"/>
                </a:solidFill>
                <a:latin typeface="Inter"/>
              </a:rPr>
              <a:t> </a:t>
            </a:r>
            <a:r>
              <a:rPr sz="1200">
                <a:solidFill>
                  <a:srgbClr val="DDE4EE"/>
                </a:solidFill>
                <a:latin typeface="Inter"/>
              </a:rPr>
              <a:t>Нарезка, сервелат, механика премиума, сегменты 55–75 и формула белка. Всё остальное — после сверки.</a:t>
            </a:r>
          </a:p>
          <a:p>
            <a:pPr marL="237744" indent="-237744">
              <a:lnSpc>
                <a:spcPct val="125000"/>
              </a:lnSpc>
            </a:pPr>
            <a:r>
              <a:rPr sz="1200">
                <a:solidFill>
                  <a:srgbClr val="1E8A5F"/>
                </a:solidFill>
                <a:latin typeface="Inter"/>
              </a:rPr>
              <a:t>▪  </a:t>
            </a:r>
            <a:r>
              <a:rPr sz="1200" b="1">
                <a:solidFill>
                  <a:srgbClr val="FFFFFF"/>
                </a:solidFill>
                <a:latin typeface="Inter"/>
              </a:rPr>
              <a:t>Сценарии и второй период рынка: Agent 2.</a:t>
            </a:r>
            <a:r>
              <a:rPr sz="1200">
                <a:solidFill>
                  <a:srgbClr val="DDE4EE"/>
                </a:solidFill>
                <a:latin typeface="Inter"/>
              </a:rPr>
              <a:t> </a:t>
            </a:r>
            <a:r>
              <a:rPr sz="1200">
                <a:solidFill>
                  <a:srgbClr val="DDE4EE"/>
                </a:solidFill>
                <a:latin typeface="Inter"/>
              </a:rPr>
              <a:t>План против импульса, «вечер наедине с собой» и мясо +9,9% за 2025.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5074920"/>
            <a:ext cx="10424160" cy="822960"/>
          </a:xfrm>
          <a:prstGeom prst="roundRect">
            <a:avLst/>
          </a:prstGeom>
          <a:solidFill>
            <a:srgbClr val="18253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212080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6CFDB"/>
                </a:solidFill>
                <a:latin typeface="Inter"/>
              </a:rPr>
              <a:t>Расхождения по рынку и демографии решены в пользу колоды. Расхождения по стратегии остаются выбором: данные позволяют взвесить ставки, но не отменяют решения.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333F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