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СВОДНЫЙ РАЗБОР · 25 ОКТЯБРЯ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Три агента — одна колода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C6CFDB"/>
                </a:solidFill>
                <a:latin typeface="Inter"/>
              </a:rPr>
              <a:t>Инкофуд «Исследование потребителя», октябрь 2026: где работы Клода, Грока и Гемини
совпадают, где расходятся и что каждый увидел в одиночку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1828800" cy="4572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337560" cy="114300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03320"/>
            <a:ext cx="64008" cy="1143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25 слайдов + MD 382 строки
ID-схема, calc,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703320"/>
            <a:ext cx="3337560" cy="114300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3703320"/>
            <a:ext cx="64008" cy="114300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12 слайдов + MD 85 строк
компактный синтез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6136" y="3703320"/>
            <a:ext cx="3337560" cy="114300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46136" y="3703320"/>
            <a:ext cx="64008" cy="1143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PDF 11 страниц + PPTX 12 + MD 181
максимум продуктовых деталей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321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База: github.com/Osmosy/Consumer-research · 7 колод, 260 слайдов, 2 758 строк данных · колода inkofood-2026: 69 слайдов, 900 респондентов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Каждое спорное число сверено с текстовым слоем колоды (decks/&lt;slug&gt;/deck.json) и data/values.csv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именно сравнивалось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Три независимые работы по одной и той же колоде, у каждой — презентация и машинно-читаемый файл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65960"/>
            <a:ext cx="3291840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25 слайдов, 18,8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382 строки, 37,7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ID у каждого пункта: F / I / A / X / Y / L / R / T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calc — расчёт с формулой; confidence — уровень уверенности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291840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12 слайдов, 7,6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85 строк, 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Ссылка на источник — в подвале блока: «слайды 4–12»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Сквозной нумерации пунктов и пометок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6096" y="1965960"/>
            <a:ext cx="3291840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PDF: 11 страниц A4, 48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 12 сл.; MD 181 стр., 49,8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Ссылки на .md-файлы колод в GitHub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JSON-схема из 28 метрик с машинными ключами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47488"/>
            <a:ext cx="10881360" cy="1170432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93792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Как проверялось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864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06B7A"/>
                </a:solidFill>
                <a:latin typeface="Inter"/>
              </a:rPr>
              <a:t>Каждое спорное утверждение сверялось с первоисточником: decks/&lt;slug&gt;/deck.json (текстовый слой PDF, восстановленный в репозитории), decks/&lt;slug&gt;/&lt;slug&gt;.md и data/values.csv. Оценки «не подтверждается» означают, что значения нет ни на одном слайде колоды — ни в таблицах, ни в подписях, ни в примечаниях.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СРАВНЕНИЕ ФОРМАТОВ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Три работы рядом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Форма важнее объёма: проверяемость зависит от того, как оформлена ссылка на источник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74519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3063240"/>
                <a:gridCol w="2606040"/>
                <a:gridCol w="3063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Критерий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Файлы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PPTX 25 сл. + MD 382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PPTX 12 сл. + MD 85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PDF 11 стр. + PPTX 12 сл. + MD 181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Объём текста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18,8 тыс. знаков / 37,7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7,6 тыс. / 9,8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9,1 тыс. / 49,8 КБ (плотные таблицы)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Ссылка на 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deck=…, page=N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«Слайды 4–12» в подвале блока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на .md-файл колоды, номер слайда — редко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Нумерация пунктов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F / I / A / X / Y / L / R / T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ключи метрик в JSON-схеме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Пометки значений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calc (расчёт) + confidence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«расчёт по слайду» в скобках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12: 6 между колодами + 6 внутри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5 «нюансов», без цифр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5, каждое с готовым решением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Архитектура брендов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БТ + Natura + «Гостинец» (линия)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БТ + Natura, без архитектуры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БТ + Natura + «Инкофуд» (корп. / СТМ)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План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0–3 / 3–6 / 6–12 мес. + 4 теста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next steps без сроков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1–3 / 3–6 / 6–12 мес.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Пригодность для агента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высокая: ссылка и уверенность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средняя: контекст есть, проверка вручную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средняя: детали есть, часть цифр без опоры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ПРОВЕРКА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утверждений выдержало сверку с колодой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Проверялось всё, где есть число или однозначный факт: 91 утверждение, из них 66 — у Гемини во второй итерации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18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все числа верны, два ярлыка поправлены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5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2 искажения, ошибок в числах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65 / 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одно искажение; отсутствующих значений нет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8368" y="3611880"/>
          <a:ext cx="6537960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проверок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Драйверы, частоты, репертуар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 / 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11 / 11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Бренды, неймы, воронка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Рынок и смежные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19 /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Продукт: нарезка, сервелат, упаковка, премиум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 /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Поколения (ЭКОПСИ)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7452360" y="3611880"/>
            <a:ext cx="4087368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75818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Где именно ломается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50791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06B7A"/>
                </a:solidFill>
                <a:latin typeface="Inter"/>
              </a:rPr>
              <a:t>Гемини во второй итерации убрал то, что в первой было не из колоды: было 27 отсутствующих значений и 5 искажений — стало 0 и 1. Осталось одно: «58% ориентируются на курируемые предложения» со ссылкой на page=16, где чисел нет вовсе.
У Клода все 18 чисел верны; поправлены два ярлыка. У Грока все числа верны; спорны две трактовки — нитритная соль и поколения.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Полный перечень 91 проверки — в пояснении к презентации, приложение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8A5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Совпадения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Десять тезисов, которые воспроизвели все трое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Совпадает не только вывод, но и числа: 12 показателей названы всеми тремя и сходятся с колодой.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что подтверждают все или большинство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тезисов, которые воспроизвели минимум двое из трёх. Кто именно — в матрице на слайде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Семейная повседневная категория.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Покупают для себя и семьи 76,7% в РФ и 78,1% в РБ — есть у всех троих (слайд 5).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Ритм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Ежедневно 15,7% / 20,9%, 2–3 раза в неделю 50,7% / 55,8% (слайд 4).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Сценарий-лидер разный по странам.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 РФ — завтрак (60,3%, драйвер 62,3%), в РБ — быстрый перекус (53,5%) (слайды 6, 9).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Бренд не причина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Известность бренда важна 25,5% / 9,7%, тогда как вкус — 66,0% / 57,4%, качество — 65,3% / 61,9% (слайд 8).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Свежесть — барьер №1.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«Недостаточно свежий продукт» 67,8% / 66,5%; запах как повод для разочарования — 64% / 65% (слайды 13–15).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Упаковка = доверие.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Прозрачная нужна 72,7% / 74,2%, дата на лицевой стороне — 61,7% / 59,4%, непрозрачная отталкивает 63,2% / 60,0% (слайды 34–35).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продолжение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Ещё четыре тезиса — с пометкой, где покрытие неполное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Вес пачки зависит от рынка.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РФ — 151–250 г (50,8%), РБ — 251–500 г (45,8%); 81–150 г берут 21,5% и 14,8% (слайд 36).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Белок работает как усилитель, но требует доказательств.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Важно 66,9% / 68,1%; клеймо «высокий белок» повышает покупку у 55,3% / 58,9%, при этом 21% видят маркетинг, 8% боятся сои (слайды 29–31).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Премиальная варёная возможна.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Концепт принимают 60,0% / 58,9% при заметном отличии; доплату за ГОСТ в основном ограничивают 10% (слайды 38, 43). У Грока — только концепт, без ГОСТ.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Свои бренды слабы, особенно в РФ.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«Белорусская традиция»: знание 13,3% / 28,4%, покупка 2,7% / 7,7%. Natura: 12,3% / 16,8% и 2,0% / 5,8% (слайд 50). Причины непокупки в домашнем регионе (РБ): незнание 24,5% / 32,9%, полка 17,5% / 15,8%, цена 4,9% / 4,8% (слайд 51).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138928"/>
            <a:ext cx="10881360" cy="10058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38928"/>
            <a:ext cx="68580" cy="10058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E1726"/>
                </a:solidFill>
                <a:latin typeface="Inter"/>
              </a:rPr>
              <a:t>Вывод: три независимых чтения одной колоды дают одну и ту же картину. Расхождения начинаются не в колоде, а в двух местах — в переносе цифр из других колод и в стратегии, где любой выбор защитим данными лишь частично. Полное покрытие по всем тезисам — только у Клода.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ЧИСЛА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Двенадцать чисел и кто из троих их привёл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точное значение, ~ — округление или пересказ, — — не приводил. Все числа совпадают с колодой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80560"/>
                <a:gridCol w="1417320"/>
                <a:gridCol w="1417320"/>
                <a:gridCol w="1188720"/>
                <a:gridCol w="777240"/>
                <a:gridCol w="7772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РФ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РБ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Покупают для себя и семьи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76,7%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78,1%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Ежедневная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15,7%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2–3 раза в неделю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Ситуация «завтрак»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60,3%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41,3%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Вкус как фактор выбора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57,4%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Барьер «несвежесть»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67,8%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Прозрачная упаковка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72,7%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Белок важен (топ-2)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68,1%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Клеймо «белок» растит покупку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58,9%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БТ: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13,3 / 2,7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28,4 / 7,7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Natura: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12,3 / 2,0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16,8 / 5,8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Протеин +19,8% в штуках (рынок)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+19,8%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nielsen 22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90702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06B7A"/>
                </a:solidFill>
                <a:latin typeface="Inter"/>
              </a:rPr>
              <a:t>Шесть чисел приведены всеми троими с точностью до десятых. Грок числа берёт выборочно и часто в округлении, поэтому «12 показателей названы всеми тремя» было бы преувеличением. Последняя строка — nielsen-itogi-2025-vektory-2026, page=22: это ЗОЖ-батончики и мороженое, не мясо.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D1820E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Расхождения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Семь споров: от арифметики до архитектуры брендов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Из семи споров пять решаются сверкой с колодой и два остаются стратегическим выбором.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Рынок: онлайн, СТМ и полка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спор решается сверкой: часть чисел Гемини точна, часть отсутствует в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120640" cy="3017520"/>
          </a:xfrm>
          <a:prstGeom prst="roundRect">
            <a:avLst/>
          </a:prstGeom>
          <a:noFill/>
          <a:ln w="15875">
            <a:solidFill>
              <a:srgbClr val="C033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116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332B"/>
                </a:solidFill>
                <a:latin typeface="Inter"/>
              </a:rPr>
              <a:t>Agent 3 · не сходится с колодой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«Онлайн вырос на +24,3%»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nielsen-fmcg: +35,0% в деньгах, +37,6% в упаковках (сл. 5, 11, 13).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«Доля СТМ в продовольствии 13,8%»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15,3% и в 2025, и в 2026 (сл. 8). 13,8 — это молочка в упаковках, сл. 9.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«80% полки занято топ-брендами и СТМ»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в колоде: 80% продаж формируют 2,9% ключевых SKU (nielsen-itogi, сл. 15).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874519"/>
            <a:ext cx="5550408" cy="30175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874519"/>
            <a:ext cx="68580" cy="30175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116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8A5F"/>
                </a:solidFill>
                <a:latin typeface="Inter"/>
              </a:rPr>
              <a:t>Agent 3 · что сходится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40864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Нильсен 2025: 11,7% = 11,0 инфляция + 0,8 реальный спрос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сл. 5,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2026: 10,6% = 6,1 объём + 4,5 инфляция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nielsen-fmcg, сл. 3,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СТМ 15% оборота, в онлайне больше 10%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15,2% и 10,2%, nielsen-itogi, сл. 33, 35.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Регионы растут быстрее столиц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Сибирь +12,1, Юг +12,7 против Центра +9,9 (сл. 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1726"/>
                </a:solidFill>
                <a:latin typeface="Inter"/>
              </a:rPr>
              <a:t>Вердикт: A1 приводит 35,0% и №1 по вкладу в рост СТМ — сходится полностью. A3 верно описывает композицию роста рынка и ошибается в трёх конкретных числах, путая каналы и категории. A2 в этом блоке числа не приводит.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Демография выборки и место аудитории 55+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Первая итерация Гемини расходилась с колодой по четырём строкам; во второй — совпадает полностью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110996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14600"/>
                <a:gridCol w="2240280"/>
                <a:gridCol w="2331720"/>
                <a:gridCol w="1920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Пол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61% женщины / 39% мужчины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54% / 46%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женщины 61%, мужчины 39%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 / 39 · слайд 65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Дети до 18 лет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(вся база)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42% РФ / 45%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есть у 52%, нет у 48%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· слайд 65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+ 4,8)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68% РФ / 62%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вещи длит. польз. + 4,8 дорогие)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65,2 + 4,8 · слайд 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Возрастные группы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 от 21–24 до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 группы: 12 / 28 / 31 / 29%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групп, «Untitled 1» — 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4,3 … 13,8 + 10,2%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Доля 55+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0% — «старше 55 не включалась»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Города выборки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не детализирует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Москва 300, СПб 150, Екб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 · слайд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Клод читает последний столбец как 55+ (10,2%) и выносит это в ограничение L-01: 10% в выборке против 36% на слайде РОМИР. Тезис верный, но ярлык «население РФ» колода не подтверждает: источник слайда — Потребительская панель, база не указана.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Гемини объявляет 55+ отсутствующими, чтобы построить противоречие. Вывод о недоборе верен, но основание ложное. Города выборки, наоборот, совпадают с колодой: ошибка только в поле, детях, доходе и возрастах.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Метрики брендов и продуктовых блоков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Тут картина смешанная: у Гемини есть точные уникальные цифры и есть числа, которых в колоде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514600"/>
                <a:gridCol w="822960"/>
                <a:gridCol w="2377440"/>
                <a:gridCol w="2148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Факт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Natura: атрибут «натуральный»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25,2%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15,1% ·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БТ: доля оценок 9–10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30% (calc)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30,3% (9–10), 58,5% (7–10) ·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Сервелат: еженедельно и чаще,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≈30%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29,6% · слайд 25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Нарезка: главный барьер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трудно открыть 34% /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переплата 58,2%, привычка резать 51,4%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34% / 28% · слайд 23; 58,2%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32,7% РФ / 36,3%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32,7% / 36,3% · слайд 38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Упаковка: «о производителе»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46,2% РФ / 38,7%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46,2% / 38,7% · слайд 34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Вес 81–150 г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21,5% РФ / 14,8%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21,5% / 14,8% · слайд 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5321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Практический вывод: продуктовые детали (нарезка, сервелат, премиум, вес) полнее всех у Гемини и почти все подтверждаются — 19 из 27 в продуктовом блоке. Ошибки у него сидят в атрибутах брендов: Natura «натуральный», оценки «Белорусской традиции», сервелат в РБ. У Клода сходится всё, но деталей меньше; Грок этот блок почти не разбирает.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Два вопроса, где агенты разошлись по существу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Не арифметика, а трактовка данных — здесь важнее аргумент, чем число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Поколения: есть различие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Грок: «поколенческие различия в вовлечённости и ценностях» — и на этом строит дифференциацию сообщений по возрасту.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ЭКОПСИ, слайд 19: «отличий между поколениями нет», «молодые сейчас и 10 лет назад одинаковые», теория поколений — «не научная теория, а популярная типология». Клод приводит это как противоречие X-06, Гемини — как основание сегментировать по этапу жизни.
Вердикт: Грок против источника; Клод и Гемини совпадают с колодой.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«Продукт без нитритной соли» как преимущество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 предлагает взять это в точки дифференциации — наравне с Easy-Peel и натуральными ингредиентами.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Слайд 42: «без нитритной соли» считают маркетинговым ходом 60,7% в РФ и 58,7% в РБ; реальным преимуществом — 39,3% и 41,3%. Натуральные красители дают 65,0% / 76,1%, Easy-Peel — 64,2% / 71,6%.
Вердикт: данные против Грока. Клод это учёл (R-11: не делать «без нитрита» главным обещанием), Гемини построил на этом противоречие №2.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 чего начинать: полка, узнаваемость или промо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нет правых по факту — есть разные ставки, и данные позволяют их взвесить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169164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FE3"/>
                </a:solidFill>
                <a:latin typeface="Inter"/>
              </a:rP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Сначала наличие на полке и упаковка, потом медиа. Бюджет — в дистрибуцию, а не в рекламу.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74519"/>
            <a:ext cx="3401568" cy="169164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E9C8F"/>
                </a:solidFill>
                <a:latin typeface="Inter"/>
              </a:rPr>
              <a:t>Agent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Приоритет №1 — awareness + distribution: дегустации, сэмплы, работа с сетями по заметности.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874519"/>
            <a:ext cx="3401568" cy="169164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1820E"/>
                </a:solidFill>
                <a:latin typeface="Inter"/>
              </a:rPr>
              <a:t>Agent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Промо-трейл со скидкой 15–20% на входе в сеть, E-com first, GEO-разметка под ИИ-поиск.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0881360" cy="14173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77056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говорит колода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864"/>
              </a:spcAft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Причина непокупки №1 — незнание бренда: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24,5% («Белорусская традиция») и 32,9% (Natura). №2 — доступность и заметность: 17,5% и 15,8%. Цена — 4,9% и 4,8% (слайд 51, домашний регион — РБ).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Цена при выборе в РФ важнее, чем в РБ: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60,2% против 51,6%, акции — 39,0% против 17,4% (слайд 8); ценовой барьер — 53,2% против 37,4% (слайд 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4924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Взвешивание: скидка 15–20% бьёт по цене, которая не является причиной непокупки своих брендов, — она решает другую задачу (пробный триал). Наличие на полке — условие входа, узнаваемость — драйвер конверсии, поэтому Клод и Грок правы в приоритете, а механика Гемини годится как способ добрать первый опыт, но не как основа бюджета.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Архитектура портфеля: три разных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Различие принципиальное: сколько брендов компания ведёт и какую роль даёт корпоративному имени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3401568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«Белорусская традиция» — флагман доверия, мейнстрим+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современная чистая этикетка, премиум, онлайн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«Беловежский гостинец» — не бренд, а подарочная линия под БТ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нейм 7,0 РФ / 6,3 РФ у Гостинца и 24% оценок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874519"/>
            <a:ext cx="3401568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Только два бренда: БТ и Natura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Роли не разведены: у обоих «качество, доверие, современность»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Ставка на awareness и trial, а не на структуру портфеля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Гостинец и корпоративное имя не рассматривает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3401568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БТ — массовый флагман, ГОСТ-ядро, 180–250 г в РФ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Clean Label &amp; High-Protein, 100–150 г, Easy-Peel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«Инкофуд» — корпоративный зонтик и ко-брендовые / премиальные СТМ для сетей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спонтанное знание «Инко-Фуд» 6,5% в РБ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474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Что видно по данным: Гостинец — единственный бренд с полярной реакцией (7,0 в РБ против 6,3 в РФ и 24% низких оценок), поэтому решение Клода «линия, а не третий бренд» опирается на цифры. Идея Гемини с корпоративным зонтиком опирается только на спонтанное знание 6,5% в РБ — в колоде нет ни одного замера B2B или СТМ-восприятия, так что это гипотеза, а не вывод.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противоречий и какого они рода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Разный масштаб оптики: Клод ищет противоречия и внутри самой колоды, остальные — только между исследованиями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063240"/>
                <a:gridCol w="2606040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Тип 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Между колодами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(X-01 … X-06)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 «нюансов», без нумерации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5, каждое с решением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Внутри колоды Инкофуд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(Y-01 … Y-06)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Ограничения данных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(L-01 … L-06)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одно, как противоречие №1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Формулировка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сторона A / сторона B /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тезис / антитезис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данные U&amp;A / данные рынка / решение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Опора на слайд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224528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Пересечение всех трёх: здоровье и белок, роль бренда, аудитория 55+, офлайн против e-com, поколения.
Только у Клода: настроение покупателя (оптимизм 105 против ИПУ −9), деликатесы (ранг 17 из 34 по готовности отказаться), сосиски (№1 по пенетрации 80,7%, но драйвер снижения рынка).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4224528"/>
            <a:ext cx="534924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4224528"/>
            <a:ext cx="68580" cy="1920240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352544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Шесть противоречий внутри колоды — самая дорогая находка, и она есть только у Клода: польза 8,2% против «готовы изменить вкус» 71,8%; «бренд не важен» против «незнание — главный барьер»; названия Natura против недоверия к «натуральный/эко»; красный цвет против «яркие цвета настораживают» 34,7%. Всё это меняет решения по упаковке и сообщению уже на этапе пилота.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ВЕРДИКТЫ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Кто прав по фактам: ключевые спорные утверждения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Сверка с текстовым слоем колоды. «—» значит, что агент этот пункт не разбирал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3758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20440"/>
                <a:gridCol w="777240"/>
                <a:gridCol w="685800"/>
                <a:gridCol w="1463040"/>
                <a:gridCol w="1874519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Онлайн-рынок FMCG вырос на 35,0% в деньгах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(+24,3%)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35,0 / 37,6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Доля СТМ в продовольствии 15,3%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(13,8%)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15,3, а 13,8 — рост молочки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8–9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товара с генеративного AI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(«73%»)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23 и 73 по местам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слайды 7,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«81% проверяют состав»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нет в колоде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значения нет, снято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15: 74% — это CMO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Пол 61/39, дети 52%, доход 70%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(54/46, 42/45, 68%)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61/39, 52, 70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слайды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55+ присутствуют в выборке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(0%)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10,2% + 2,8%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66 —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Natura: «натуральный» 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(25,2%)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15,1 / 16,8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БТ: оценки 9–10 у 30%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(«66,7% 7–10»)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30,3% и 58,5%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трудно открыть 34%,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(58,2% / 51,4%)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≈34 / ≈28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Поколенческих различий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C0332B"/>
                          </a:solidFill>
                          <a:latin typeface="Inter"/>
                        </a:rPr>
                        <a:t>✘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ekopsi, слайд 19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Мясо 2025: +9,9% деньги, +3,7%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Покупка: 31–33% планируют, ~22% спонтанно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31,3 / 32,9 и 22,2 / 21,9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страница пустая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page=16: чисел нет; 58% — слайды 22 и 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1726"/>
                </a:solidFill>
                <a:latin typeface="Inter"/>
              </a:rPr>
              <a:t>Счёт по таблице: Клод 8 из 8 (где участвовал), Грок 2 из 3, Гемини — 1 из 9 в первой итерации и 9 из 9 во второй. Полный счёт по 91 проверке — 18 из 18, 5 из 7 и 65 из 66 (приложение A пояснения).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2F5FE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Уникальное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Что каждый увидел в одиночку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Двадцать одна находка, которой нет у других. Восемь — у Клода, шесть — у Грока, семь — у Гемини.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Клод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Восемь находок, которых нет ни у Грока, ни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Ограничения данных как отдельный слой.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L-01: 55+ ≈10% в выборке против 36% в панели РОМИР; L-04: 9 растровых диаграмм прочитаны по рендеру; L-05: комментарии на слайдах 5 и 14 обрезаны в источнике.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Дефекты самой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Слайд 45 дублирует 44; слайд 17 дублирует российскую часть 46; последний возрастной столбец подписан «Untitled 1».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Шесть противоречий внутри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Польза мотивирует 8,2% / 1,3%, но изменить вкус ради пользы готовы 71,8% / 79,7%; «бренд не важен» против «незнание — барьер».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«Беловежский гостинец» разобран целиком.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6,3 в РФ против 7,0 в РБ, 24% оценок 1–4 в РФ → подарочная линия под БТ и отдельный тест в РФ (T-04).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Доплата за ГОСТ ограничена.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Готовы доплачивать 64,4% / 64,6%, но 35,5% / 40,9% — только на 1–10% → премия ≤10%.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Конверсия знания в покупку по 9 брендам.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Брестский МК 75%, Natura РБ 35%, БТ РБ 27%, БТ РФ 20%, Natura РФ 16% — видно, что узкое место — узнаваемость, а не продукт.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Настроение против спроса.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Индекс оптимизма 105 в IV кв. 2025 против ИПУ −9 в III кв. 2026, при реальном спросе +10,2% в августе 2026.</a:t>
            </a:r>
          </a:p>
          <a:p>
            <a:pPr marL="237744" indent="-237744">
              <a:lnSpc>
                <a:spcPct val="114000"/>
              </a:lnSpc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План работ и проверки до инвестиций.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Горизонты 0–3 / 3–6 / 6–12 месяцев и четыре теста: добрать 55+, проверить «готовность к пользе» на полке, ценовой тест 5% и 10%, тест Гостинца в РФ.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находок — работа компактнее, но в ней есть слайды, которые двое других не открыли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покупают: план против импульса.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31,3% / 32,9% планируют покупку заранее, 22,2% / 21,9% готовы купить спонтанно, если продукт выглядит аппетитно (слайд 20) — ни у Клода, ни у Гемини этого слайда нет.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Второй период рынка.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Мясо за 2025 год: +9,9% в деньгах и +3,7% в упаковках (nielsen-itogi, слайд 8). Дополняет +7,7% за январь–август 2026 у Клода — это не спор, а два отрезка.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Разрез готовности к пользе.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17,4% «полностью готовы» + 54,4% «скорее готовы» (РФ): твёрдо готов каждый шестой, остальные — при условии. У Клода только сумма 71,8%.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 потребления, а не цифра.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Идеальный образ из открытых ответов: бутерброд + чай или кофе + фильм или сериал; цитаты «вечер, я одна и колбаса» (слайды 11–12).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Сигнал против новинок.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«Нет потребности в новом продукте» — 24% (слайд 41). Грок трактует это как «рынок не ждёт новинок, он ждёт исполнения» — строже, чем остальные.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Единственный, кто предложил мониторинг.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Регулярный U&amp;A плюс Nielsen sales tracking по целевым SKU и каналам — у двух других плана замеров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Гемини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 второй итерации подтверждается всё, кроме одной ссылки: 65 из 66 проверок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760720"/>
                <a:gridCol w="1051560"/>
                <a:gridCol w="1051560"/>
                <a:gridCol w="3017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разобрано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Объём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Статус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выборки: пол, дети, восемь возрастных групп, 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6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2,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Репертуар: 12 позиций в двух странах и кратности 2,6 и 2,8 раза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13 пар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сценарии по странам, характер покупки, барьеры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11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19–20,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Сервелат: частоты РФ и РБ, маркеры сорта, сценарии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14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25–27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Белок: важность 66,9 / 68,1 и клеймо 55,3 / 58,9 — суммы по столбцам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8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29–31, 44, 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Упаковка и вес: оформление, обязательные элементы, антипатии, форматы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20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33–36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и ГОСТ: принятие, доказательства, коридор доплаты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12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38–39,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9 брендов, причины непокупки, средние оценки, атрибуты БТ, Natura и Гостинца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24 числа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49–63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Смежные колоды: Нильсен, РОМИР, СберМаркетинг, ЭКОПСИ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19 из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page=5, 8, 15, 22, 33–35; romir 4, 7, 18, 21; sber 5, 7, 9, 25; ekopsi 10,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 со ссылкой на page=16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 число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искаж.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 page=16 чисел нет; 58% — слайды 22 и 26, о другом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Формула белка на пачке: «X г белка на 100 г • мяса Y% • без соевого белка»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шаблон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значения дают рецептура и протокол; опора — 21% скепсиса и 8% страха сои, page=31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70448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1726"/>
                </a:solidFill>
                <a:latin typeface="Inter"/>
              </a:rPr>
              <a:t>Итого: 65 из 66. Единственное расхождение — ссылка на page=16, где нет ни одного числа. В первой итерации у Гемини было 27 значений, которых нет в колоде, и 5 искажений; во второй их нет.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Матрица: кто какие блоки колоды разобрал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разобрано с цифрами, ~ — упомянуто без цифр или частично, — — не разобрано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6400800" cy="39593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822960"/>
                <a:gridCol w="8229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колоды (слайды)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выборка (2, 64–69)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Частоты, сценарии, покупка (4–12, 20)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Драйверы, барьеры, разочарования (6–15)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 (18–23)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Сервелат (24–27)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Высокий белок (28–31)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Упаковка, цвет, вес (32–36)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(37–39)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Новинки и перекус on the go (41, 46–47)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ГОСТ и Easy-Peel (42–43)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и причины (48–52)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Неймы и ассоциации (53–63)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рынок и каналы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55+ и поколения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0" y="1828800"/>
            <a:ext cx="4224528" cy="32004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2944" y="197510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видно из матрицы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2304288"/>
            <a:ext cx="3749039" cy="2560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Полное покрытие — только у Клода.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Все 15 блоков, ни одного пропуска.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Грока провал в продукте.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Нарезка, сервелат, премиум — без цифр; зато сценарии и покупка разобраны лучше всех.</a:t>
            </a:r>
          </a:p>
          <a:p>
            <a:pPr marL="237744" indent="-237744">
              <a:lnSpc>
                <a:spcPct val="115000"/>
              </a:lnSpc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Гемини во второй итерации закрыт весь продукт.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Демография, нарезка, сервелат, упаковка, премиум и неймы — с цифрами и адресами.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СИНТЕЗ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взять в работу из трёх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Десять решений: у каждого — автор и подтверждение по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41330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7840"/>
                <a:gridCol w="1965960"/>
                <a:gridCol w="3337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Решение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Откуда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Опора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1. Сначала наличие на полке и упаковка, потом медиа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незнание 24,5 / 32,9%, полка 17,5 / 15,8% · сл. 51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2. Прозрачное окно, дата на лицевой, крупный шрифт, меньше обещаний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все трое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72,7 / 74,2%, 61,7 / 59,4%, 63,2 / 60,0% · сл. 34–35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3. Премиальная варёная «по ГОСТ» с % мяса и премией ≤10%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60,0 / 58,9% принимают; доплата 1–10% — 35,5 / 40,9% · сл. 38,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4. Натуральные красители вместо «без нитритной соли»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(против A2)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65,0 / 76,1% против 39,3 / 41,3% · сл.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5. Белок только с цифрами: «X г белка, мяса Y%, 0% сои»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(формула) + 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21% видят маркетинг, 8% боятся сои · сл. 31, 44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6. Easy-Peel и повторное закрытие как стандарт нарезки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трудно открыть ≈34%, не закрыть ≈28%; Easy-Peel 64,2 / 71,6% · сл. 23,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7. E-com и e-grocery — точка входа в РФ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(числа A1)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 +35,0%, мясо в онлайне +34,3%, доля 12,2% · сл. 5,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8. Карточка товара под ИИ-поиск: состав и сценарные теги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9. «Гостинец» — подарочная линия под БТ, в РФ после теста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7,0 РБ против 6,3 РФ, 24% оценок 1–4 · сл. 61–63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10. Добрать 55+ в выборку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≈10% против 36% на слайде РОМИР (база не указана) · page=66, romir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11. Проверить «готовность к пользе» полевым тестом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71,8 / 79,7% — декларация, не поведение · page=46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ЧТО ОСТАЛОСЬ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После второй итерации: одно искажение и два ярлыка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Было 27 значений, которых нет в колоде, и 5 искажений — осталось одно искажение и два спорных ярлыка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5989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осталось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Агент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в колоде на самом деле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«58% ориентируются на курируемые предложения и спрос» · page=16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 page=16 нет ни одного числа; 58% есть на page=22 (курируемые впечатления) и page=26 (стресс) и к предложениям не относится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«36% — доля 55+ в панели РОМИР» ·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A1,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число верное, но на слайде это «процент у скобки группы», база панели не указана: «панель РОМИР» —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Нарезка 45,2% подписана page=41 в таблице портфеля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45,2% — это репертуар, page=7; на page=41 идеи новинок (рулеты 20, ассорти 15, начинки 13)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«Без нитритной соли» как дифференциатор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60,7% / 58,7% считают это маркетингом; реальное преимущество — натуральные красители 65,0 / 76,1% · page=42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224528"/>
            <a:ext cx="5349240" cy="14630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224528"/>
            <a:ext cx="68580" cy="14630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726"/>
                </a:solidFill>
                <a:latin typeface="Inter"/>
              </a:rPr>
              <a:t>Что исправлено во второй итерации Гемини: демография (пол 61/39, дети 52%, восемь групп, доход 70%), 13,8% как рост молочки, 73% как AI в быту, 74% и 22% как овощи и путешествия, веса 151–250 и 251–500 г, ГОСТ и структура доплаты.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4224528"/>
            <a:ext cx="5349240" cy="14630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4224528"/>
            <a:ext cx="68580" cy="1463040"/>
          </a:xfrm>
          <a:prstGeom prst="rect">
            <a:avLst/>
          </a:prstGeom>
          <a:solidFill>
            <a:srgbClr val="606B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06B7A"/>
                </a:solidFill>
                <a:latin typeface="Inter"/>
              </a:rPr>
              <a:t>Что исправлено у остальных: у Клода — ярлыки «36% населения» и «техника и мебель»; у Грока — нитрит и поколения. Остальные утверждения всех трёх работ подтверждаются колодой.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ПРОБЕЛЫ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Чего не сделал никто из троих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Семь мест, где все три работы оставляют решение бизнесу без опоры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добрать 55+.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Все фиксируют недобор, но план добора есть только у Клода одной строкой (T-01). Ни квоты, ни каналов рекрута, ни срока.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Экономика решения.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Никто не считал ни цену премии, ни маржу, ни стоимость входа в сеть, ни порог окупаемости промо-трейла.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Декларации приняты за поведение.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71,8% «готовы изменить вкус», 55,3% «белок повысит покупку» — полевой тест потребовал только Клод (T-02).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СТМ как угроза и как возможность.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15,3% продовольствия и №1 по вкладу в рост — колбасы упакованные. Ко-брендинг с сетями предложил только Гемини, и без расчёта.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Регионы.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Нильсен даёт разброс: Юг +12,7%, Сибирь и ДВ +12,1% против Центра +9,9%. Кто-то использовал это качественно (Гемини), но без плана входа.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Сезонность и календарь промо.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Праздничный стол — 46,8% у сервелата и 26,0% в драйверах, но ни один не разложил год по пикам спроса.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Конкуренты.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«Ратимир» и «Окраина» усилили позиции в 2025, Брестский МК знают 89% в РБ — разобрано только у Клода и без выводов для брендов.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Каркас — Клод, детали — Гемини,
сценарии и рынок 2025 — 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88920"/>
            <a:ext cx="1828800" cy="457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Каркас: работа Agent 1.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Она единственная, где каждое утверждение имеет слайд, расчёт помечен, а сомнение оформлено как ограничение. На неё можно опереться в решениях.</a:t>
            </a:r>
          </a:p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Детали: работа Agent 3, только подтверждённое.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Нарезка, сервелат, механика премиума, сегменты 55–75 и формула белка. Всё остальное — после сверки.</a:t>
            </a:r>
          </a:p>
          <a:p>
            <a:pPr marL="237744" indent="-237744">
              <a:lnSpc>
                <a:spcPct val="125000"/>
              </a:lnSpc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Сценарии и второй период рынка: Agent 2.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План против импульса, «вечер наедине с собой» и мясо +9,9% за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74920"/>
            <a:ext cx="10424160" cy="822960"/>
          </a:xfrm>
          <a:prstGeom prst="roundRect">
            <a:avLst/>
          </a:prstGeom>
          <a:solidFill>
            <a:srgbClr val="1825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6CFDB"/>
                </a:solidFill>
                <a:latin typeface="Inter"/>
              </a:rPr>
              <a:t>Расхождения по рынку и демографии решены в пользу колоды. Расхождения по стратегии остаются выбором: данные позволяют взвесить ставки, но не отменяют решения.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