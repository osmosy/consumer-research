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РФ (%)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Sheet1!$A$2:$A$8</c:f>
              <c:strCache>
                <c:ptCount val="7"/>
                <c:pt idx="0">
                  <c:v>Вкус</c:v>
                </c:pt>
                <c:pt idx="1">
                  <c:v>Качество</c:v>
                </c:pt>
                <c:pt idx="2">
                  <c:v>Цена</c:v>
                </c:pt>
                <c:pt idx="3">
                  <c:v>Срок годн.</c:v>
                </c:pt>
                <c:pt idx="4">
                  <c:v>Чистый состав</c:v>
                </c:pt>
                <c:pt idx="5">
                  <c:v>Доля мяса</c:v>
                </c:pt>
                <c:pt idx="6">
                  <c:v>Акции/скидки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66.0</c:v>
                </c:pt>
                <c:pt idx="1">
                  <c:v>65.3</c:v>
                </c:pt>
                <c:pt idx="2">
                  <c:v>60.2</c:v>
                </c:pt>
                <c:pt idx="3">
                  <c:v>53.3</c:v>
                </c:pt>
                <c:pt idx="4">
                  <c:v>53.2</c:v>
                </c:pt>
                <c:pt idx="5">
                  <c:v>51.7</c:v>
                </c:pt>
                <c:pt idx="6">
                  <c:v>39.0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РБ (%)</c:v>
                </c:pt>
              </c:strCache>
            </c:strRef>
          </c:tx>
          <c:spPr>
            <a:solidFill>
              <a:srgbClr val="D97706"/>
            </a:solidFill>
          </c:spPr>
          <c:cat>
            <c:strRef>
              <c:f>Sheet1!$A$2:$A$8</c:f>
              <c:strCache>
                <c:ptCount val="7"/>
                <c:pt idx="0">
                  <c:v>Вкус</c:v>
                </c:pt>
                <c:pt idx="1">
                  <c:v>Качество</c:v>
                </c:pt>
                <c:pt idx="2">
                  <c:v>Цена</c:v>
                </c:pt>
                <c:pt idx="3">
                  <c:v>Срок годн.</c:v>
                </c:pt>
                <c:pt idx="4">
                  <c:v>Чистый состав</c:v>
                </c:pt>
                <c:pt idx="5">
                  <c:v>Доля мяса</c:v>
                </c:pt>
                <c:pt idx="6">
                  <c:v>Акции/скидки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57.4</c:v>
                </c:pt>
                <c:pt idx="1">
                  <c:v>61.9</c:v>
                </c:pt>
                <c:pt idx="2">
                  <c:v>51.6</c:v>
                </c:pt>
                <c:pt idx="3">
                  <c:v>53.5</c:v>
                </c:pt>
                <c:pt idx="4">
                  <c:v>47.7</c:v>
                </c:pt>
                <c:pt idx="5">
                  <c:v>46.5</c:v>
                </c:pt>
                <c:pt idx="6">
                  <c:v>17.4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C1917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C1917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7534E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917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Белорусская традиция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Sheet1!$A$2:$A$7</c:f>
              <c:strCache>
                <c:ptCount val="6"/>
                <c:pt idx="0">
                  <c:v>Знание РФ (%)</c:v>
                </c:pt>
                <c:pt idx="1">
                  <c:v>Покупка РФ (%)</c:v>
                </c:pt>
                <c:pt idx="2">
                  <c:v>Знание РБ (%)</c:v>
                </c:pt>
                <c:pt idx="3">
                  <c:v>Покупка РБ (%)</c:v>
                </c:pt>
                <c:pt idx="4">
                  <c:v>Оценка РФ (x10)</c:v>
                </c:pt>
                <c:pt idx="5">
                  <c:v>Оценка РБ (x10)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</c:v>
                </c:pt>
                <c:pt idx="1">
                  <c:v>2.7</c:v>
                </c:pt>
                <c:pt idx="2">
                  <c:v>28.4</c:v>
                </c:pt>
                <c:pt idx="3">
                  <c:v>7.7</c:v>
                </c:pt>
                <c:pt idx="4">
                  <c:v>70.0</c:v>
                </c:pt>
                <c:pt idx="5">
                  <c:v>67.0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Natura</c:v>
                </c:pt>
              </c:strCache>
            </c:strRef>
          </c:tx>
          <c:spPr>
            <a:solidFill>
              <a:srgbClr val="D97706"/>
            </a:solidFill>
          </c:spPr>
          <c:cat>
            <c:strRef>
              <c:f>Sheet1!$A$2:$A$7</c:f>
              <c:strCache>
                <c:ptCount val="6"/>
                <c:pt idx="0">
                  <c:v>Знание РФ (%)</c:v>
                </c:pt>
                <c:pt idx="1">
                  <c:v>Покупка РФ (%)</c:v>
                </c:pt>
                <c:pt idx="2">
                  <c:v>Знание РБ (%)</c:v>
                </c:pt>
                <c:pt idx="3">
                  <c:v>Покупка РБ (%)</c:v>
                </c:pt>
                <c:pt idx="4">
                  <c:v>Оценка РФ (x10)</c:v>
                </c:pt>
                <c:pt idx="5">
                  <c:v>Оценка РБ (x10)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12.3</c:v>
                </c:pt>
                <c:pt idx="1">
                  <c:v>2.0</c:v>
                </c:pt>
                <c:pt idx="2">
                  <c:v>16.8</c:v>
                </c:pt>
                <c:pt idx="3">
                  <c:v>5.8</c:v>
                </c:pt>
                <c:pt idx="4">
                  <c:v>66.0</c:v>
                </c:pt>
                <c:pt idx="5">
                  <c:v>65.0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C1917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C1917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7534E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917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год (%)</c:v>
                </c:pt>
              </c:strCache>
            </c:strRef>
          </c:tx>
          <c:spPr>
            <a:solidFill>
              <a:srgbClr val="57534E"/>
            </a:solidFill>
          </c:spPr>
          <c:cat>
            <c:strRef>
              <c:f>Sheet1!$A$2:$A$6</c:f>
              <c:strCache>
                <c:ptCount val="5"/>
                <c:pt idx="0">
                  <c:v>Рост FMCG (деньги)</c:v>
                </c:pt>
                <c:pt idx="1">
                  <c:v>Вклад инфляции</c:v>
                </c:pt>
                <c:pt idx="2">
                  <c:v>Реальный объём</c:v>
                </c:pt>
                <c:pt idx="3">
                  <c:v>Рост E-com (2026)</c:v>
                </c:pt>
                <c:pt idx="4">
                  <c:v>Доля СТМ Food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11.7</c:v>
                </c:pt>
                <c:pt idx="1">
                  <c:v>11.0</c:v>
                </c:pt>
                <c:pt idx="2">
                  <c:v>0.8</c:v>
                </c:pt>
                <c:pt idx="3">
                  <c:v>18.0</c:v>
                </c:pt>
                <c:pt idx="4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Янв–Авг 2026 (%)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Sheet1!$A$2:$A$6</c:f>
              <c:strCache>
                <c:ptCount val="5"/>
                <c:pt idx="0">
                  <c:v>Рост FMCG (деньги)</c:v>
                </c:pt>
                <c:pt idx="1">
                  <c:v>Вклад инфляции</c:v>
                </c:pt>
                <c:pt idx="2">
                  <c:v>Реальный объём</c:v>
                </c:pt>
                <c:pt idx="3">
                  <c:v>Рост E-com (2026)</c:v>
                </c:pt>
                <c:pt idx="4">
                  <c:v>Доля СТМ Food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10.6</c:v>
                </c:pt>
                <c:pt idx="1">
                  <c:v>4.5</c:v>
                </c:pt>
                <c:pt idx="2">
                  <c:v>6.1</c:v>
                </c:pt>
                <c:pt idx="3">
                  <c:v>24.3</c:v>
                </c:pt>
                <c:pt idx="4">
                  <c:v>13.8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C1917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C1917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7534E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917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Osmosy/Consumer-research/blob/main/decks/inkofood-2026/inkofood-2026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github.com/Osmosy/Consumer-research/blob/main/decks/inkofood-2026/inkofood-2026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Osmosy/Consumer-research/blob/main/decks/inkofood-2026/inkofood-2026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smosy/Consumer-research/blob/main/decks/inkofood-2026/inkofood-2026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hyperlink" Target="https://github.com/Osmosy/Consumer-research/blob/main/decks/inkofood-2026/inkofood-202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hyperlink" Target="https://github.com/Osmosy/Consumer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smosy/Consumer-research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smosy/Consumer-research/blob/main/decks/inkofood-2026/inkofood-2026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Osmosy/Consumer-research/blob/main/decks/inkofood-2026/inkofood-2026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Osmosy/Consumer-research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98755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FBBF24"/>
                </a:solidFill>
                <a:latin typeface="Inter"/>
              </a:rPr>
              <a:t>КРОСС-АНАЛИЗ БАЗЫ CONSUMER-RESEARCH | ОКТЯБРЬ 2026</a:t>
            </a:r>
          </a:p>
          <a:p>
            <a:r>
              <a:rPr sz="4000" b="1">
                <a:solidFill>
                  <a:srgbClr val="F8FAFC"/>
                </a:solidFill>
                <a:latin typeface="Inter"/>
              </a:rPr>
              <a:t>Мясная гастрономия 2026: U&amp;A Инкофуд и стратегия брендов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>
                <a:solidFill>
                  <a:srgbClr val="CBD5E1"/>
                </a:solidFill>
                <a:latin typeface="Inter"/>
              </a:rPr>
              <a:t>Синтез 7 исследований, анализ противоречий и план развития в РФ и РБ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CBD5E1"/>
                </a:solidFill>
                <a:latin typeface="Inter"/>
              </a:rPr>
              <a:t>Источник: github.com/Osmosy/Consumer-research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1. ИНКОФУД U&amp;A (ОКТЯБРЬ 2026) — БАЗОВЫЙ ПРОФИЛЬ</a:t>
            </a:r>
          </a:p>
          <a:p>
            <a:pPr algn="l"/>
            <a:r>
              <a:rPr sz="2500" b="1">
                <a:solidFill>
                  <a:srgbClr val="1C1917"/>
                </a:solidFill>
                <a:latin typeface="Inter"/>
              </a:rPr>
              <a:t>Покупка 2–3 раза в неделю для семьи — ядро спроса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Выборка 900 анкет (18–55 лет): </a:t>
            </a:r>
            <a:r>
              <a:rPr sz="1500">
                <a:solidFill>
                  <a:srgbClr val="57534E"/>
                </a:solidFill>
                <a:latin typeface="Inter"/>
              </a:rPr>
              <a:t>600 в РФ (Москва, СПб, Екатеринбург) и 300 в РБ (Минск, Брест, Гомель); 68% в РФ со средним+ доходом.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Частота покупки (Слайд 4): </a:t>
            </a:r>
            <a:r>
              <a:rPr sz="1500">
                <a:solidFill>
                  <a:srgbClr val="57534E"/>
                </a:solidFill>
                <a:latin typeface="Inter"/>
              </a:rPr>
              <a:t>50,7% в РФ и 55,8% в РБ берут гастрономию 2–3 раза в неделю; ежедневно — 15,7% (РФ) и 20,9% (РБ).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Семейный характер (Слайд 5): </a:t>
            </a:r>
            <a:r>
              <a:rPr sz="1500">
                <a:solidFill>
                  <a:srgbClr val="57534E"/>
                </a:solidFill>
                <a:latin typeface="Inter"/>
              </a:rPr>
              <a:t>76,7% в РФ и 78,1% в РБ покупают продукты для всей семьи; только для себя — 16,3% (РФ) и 9,7% (РБ).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Лидеры корзины (Слайд 7): </a:t>
            </a:r>
            <a:r>
              <a:rPr sz="1500">
                <a:solidFill>
                  <a:srgbClr val="57534E"/>
                </a:solidFill>
                <a:latin typeface="Inter"/>
              </a:rPr>
              <a:t>Сосиски (80,7% РФ | 76,1% РБ), варёная колбаса (74,5% | 65,8%) и ветчина (59,5% | 61,3%).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2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Инкофуд U&amp;A, слайды 2–7, 64–67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2. ДРАЙВЕРЫ, СИТУАЦИИ ПОТРЕБЛЕНИЯ И БАРЬЕРЫ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Завтрак и вкус ведут категорию, а несвежесть блокирует 68% покупок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Главные сценарии (Слайд 9): </a:t>
            </a:r>
            <a:r>
              <a:rPr sz="1500">
                <a:solidFill>
                  <a:srgbClr val="57534E"/>
                </a:solidFill>
                <a:latin typeface="Inter"/>
              </a:rPr>
              <a:t>В РФ №1 — завтрак (60,3%) и перекус (54,8%); в РБ №1 — перекус (53,5%) и еда в дорогу (41,9%).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Эмоциональный мотив: </a:t>
            </a:r>
            <a:r>
              <a:rPr sz="1500">
                <a:solidFill>
                  <a:srgbClr val="57534E"/>
                </a:solidFill>
                <a:latin typeface="Inter"/>
              </a:rPr>
              <a:t>46,3% в РФ берут гастрономию ради удовольствия от вкуса, а 35,3% — чтобы побаловать себя.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Роль промо в РФ (Слайд 8): </a:t>
            </a:r>
            <a:r>
              <a:rPr sz="1500">
                <a:solidFill>
                  <a:srgbClr val="57534E"/>
                </a:solidFill>
                <a:latin typeface="Inter"/>
              </a:rPr>
              <a:t>Акции важны для 39,0% в РФ против 17,4% в РБ; известность бренда — 25,5% в РФ против 9,7% в РБ.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Топ-барьеры отказа (Слайд 13): </a:t>
            </a:r>
            <a:r>
              <a:rPr sz="1500">
                <a:solidFill>
                  <a:srgbClr val="57534E"/>
                </a:solidFill>
                <a:latin typeface="Inter"/>
              </a:rPr>
              <a:t>Несвежесть (67,8% РФ | 66,5% РБ), сомнения в качестве (67,5% | 60,0%), вид (56,8%) и состав (55,0%).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0" y="2011680"/>
          <a:ext cx="557784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3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Инкофуд U&amp;A (октябрь 2026), слайды 6, 8, 9,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3. НАРЕЗКА, СЕРВЕЛАТ И ПРЕМИАЛЬНАЯ ВАРЁНАЯ КОЛБАСА</a:t>
            </a:r>
          </a:p>
          <a:p>
            <a:pPr algn="l"/>
            <a:r>
              <a:rPr sz="2500" b="1">
                <a:solidFill>
                  <a:srgbClr val="1C1917"/>
                </a:solidFill>
                <a:latin typeface="Inter"/>
              </a:rPr>
              <a:t>Нарезка в РФ популярнее в 2,6 раза при запросе на мясо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Мясная нарезка (Слайды 18–23): </a:t>
            </a:r>
            <a:r>
              <a:rPr sz="1500">
                <a:solidFill>
                  <a:srgbClr val="57534E"/>
                </a:solidFill>
                <a:latin typeface="Inter"/>
              </a:rPr>
              <a:t>Берут 45,2% в РФ и 17,4% в РБ для завтрака (64,3% РФ), дороги (54,2% РБ) и гостей (49,7%).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Код сервелата (Слайды 24–27): </a:t>
            </a:r>
            <a:r>
              <a:rPr sz="1500">
                <a:solidFill>
                  <a:srgbClr val="57534E"/>
                </a:solidFill>
                <a:latin typeface="Inter"/>
              </a:rPr>
              <a:t>Пряный вкус (31%), мелкий шпик (23%) и копчение (20%). Сценарии: завтрак (52,8% РФ) и гости (46,8%).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Потенциал премиум-варёнки: </a:t>
            </a:r>
            <a:r>
              <a:rPr sz="1500">
                <a:solidFill>
                  <a:srgbClr val="57534E"/>
                </a:solidFill>
                <a:latin typeface="Inter"/>
              </a:rPr>
              <a:t>60,0% в РФ и 58,9% в РБ принимают премиальную варёную колбасу при видимом отличии качества (Слайд 38).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Критерии премиальности (Слайд 39): </a:t>
            </a:r>
            <a:r>
              <a:rPr sz="1500">
                <a:solidFill>
                  <a:srgbClr val="57534E"/>
                </a:solidFill>
                <a:latin typeface="Inter"/>
              </a:rPr>
              <a:t>Натуральный состав (63,2% РФ), доля мяса (57,0%), отборное сырьё (53,8%) и минимум добавок (50,0%).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4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Инкофуд U&amp;A, слайды 18–27, 37–39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4. ВЫСОКИЙ БЕЛОК, ТРЕБОВАНИЯ К УПАКОВКЕ И НОВИНКИ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Прозрачное окно важнее эко-обещаний, а белок стимулирует 55% покупок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Высокий белок и ЗОЖ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Важность белка: </a:t>
            </a:r>
            <a:r>
              <a:rPr sz="1400">
                <a:solidFill>
                  <a:srgbClr val="57534E"/>
                </a:solidFill>
                <a:latin typeface="Inter"/>
              </a:rPr>
              <a:t>Значима для 66,9% в РФ и 68,1% в РБ; клеймо растит покупку у 55,3% (РФ).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Барьер недоверия: </a:t>
            </a:r>
            <a:r>
              <a:rPr sz="1400">
                <a:solidFill>
                  <a:srgbClr val="57534E"/>
                </a:solidFill>
                <a:latin typeface="Inter"/>
              </a:rPr>
              <a:t>21% видят маркетинг, 12% проверяют КБЖУ, 8% боятся соевого белка.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Приоритет мяса: </a:t>
            </a:r>
            <a:r>
              <a:rPr sz="1400">
                <a:solidFill>
                  <a:srgbClr val="57534E"/>
                </a:solidFill>
                <a:latin typeface="Inter"/>
              </a:rPr>
              <a:t>При равной цене выбирают мясо (37% РФ) и состав (35%), а белок — 20%.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Упаковка и вес пачки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Видимость среза: </a:t>
            </a:r>
            <a:r>
              <a:rPr sz="1400">
                <a:solidFill>
                  <a:srgbClr val="57534E"/>
                </a:solidFill>
                <a:latin typeface="Inter"/>
              </a:rPr>
              <a:t>Прозрачная пачка нужна 72,7% (РФ) и 74,2% (РБ); глухая пугает 63,2%.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Честная маркировка: </a:t>
            </a:r>
            <a:r>
              <a:rPr sz="1400">
                <a:solidFill>
                  <a:srgbClr val="57534E"/>
                </a:solidFill>
                <a:latin typeface="Inter"/>
              </a:rPr>
              <a:t>Дата на фронте важна 61,7% (РФ), а мелкий шрифт отталкивает 59,0%.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Разница весов: </a:t>
            </a:r>
            <a:r>
              <a:rPr sz="1400">
                <a:solidFill>
                  <a:srgbClr val="57534E"/>
                </a:solidFill>
                <a:latin typeface="Inter"/>
              </a:rPr>
              <a:t>В РФ №1 — 151–250 г (50,8%), а в РБ лидирует вес 251–500 г (45,8%).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Форматы, ГОСТ и новинки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Ожидаемые новинки: </a:t>
            </a:r>
            <a:r>
              <a:rPr sz="1400">
                <a:solidFill>
                  <a:srgbClr val="57534E"/>
                </a:solidFill>
                <a:latin typeface="Inter"/>
              </a:rPr>
              <a:t>Мясные рулеты (20%), ассорти нарезок (15%), сыр и специи (13%).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Реальная польза: </a:t>
            </a:r>
            <a:r>
              <a:rPr sz="1400">
                <a:solidFill>
                  <a:srgbClr val="57534E"/>
                </a:solidFill>
                <a:latin typeface="Inter"/>
              </a:rPr>
              <a:t>Easy-Peel ценят 64,2% (РФ), натур. цвет — 65,0%, без нитрита — 39,3%.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Доплата за ГОСТ: </a:t>
            </a:r>
            <a:r>
              <a:rPr sz="1400">
                <a:solidFill>
                  <a:srgbClr val="57534E"/>
                </a:solidFill>
                <a:latin typeface="Inter"/>
              </a:rPr>
              <a:t>64,4% в РФ и 64,6% в РБ готовы доплатить 1–20%+ за ГОСТ / СТБ.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5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2"/>
              </a:rPr>
              <a:t>Инкофуд U&amp;A (октябрь 2026), слайды 28–36, 40–47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5. ПОЗИЦИИ И ВОСПРИЯТИЕ БРЕНДОВ ИНКОФУД В РФ И РБ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«Белорусская традиция» обходит «Natura» по знанию и оценке нейма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Лидеры рынка (Слайд 50): </a:t>
            </a:r>
            <a:r>
              <a:rPr sz="1500">
                <a:solidFill>
                  <a:srgbClr val="57534E"/>
                </a:solidFill>
                <a:latin typeface="Inter"/>
              </a:rPr>
              <a:t>В РФ лидируют Черкизово (82,3% | 38,5%) и Вязанка (79,8% | 34,3%); в РБ — Брестский МК (89,0% | 66,5%).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Воронка брендов Инкофуд: </a:t>
            </a:r>
            <a:r>
              <a:rPr sz="1500">
                <a:solidFill>
                  <a:srgbClr val="57534E"/>
                </a:solidFill>
                <a:latin typeface="Inter"/>
              </a:rPr>
              <a:t>В РФ «Белорусская традиция» знает 13,3% и берёт 2,7%; в РБ — 28,4% и 7,7% (спонтанно Инко-Фуд — 6,5%).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Причины непокупки (Слайд 51): </a:t>
            </a:r>
            <a:r>
              <a:rPr sz="1500">
                <a:solidFill>
                  <a:srgbClr val="57534E"/>
                </a:solidFill>
                <a:latin typeface="Inter"/>
              </a:rPr>
              <a:t>Незнание (24,5% Бел. традиция | 32,9% Natura) и нехватка полки (17,5% | 15,8%), а не цена (4,9%).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Оценка и барьеры неймов: </a:t>
            </a:r>
            <a:r>
              <a:rPr sz="1500">
                <a:solidFill>
                  <a:srgbClr val="57534E"/>
                </a:solidFill>
                <a:latin typeface="Inter"/>
              </a:rPr>
              <a:t>«Белорусская традиция» (7,0 в РФ) = качество (22,7%); «Natura» (6,6) = ЗОЖ, но 12% смущает латиница.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0" y="2011680"/>
          <a:ext cx="557784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6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Инкофуд U&amp;A (октябрь 2026), слайды 48–63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6. СОПОСТАВЛЕНИЕ С 6 ИССЛЕДОВАНИЯМИ РЕПОЗИТОРИЯ CONSUMER-RESEARCH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Рынок FMCG 2026 растёт за счёт реального спроса (+6,1%) и онлайна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484632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Нильсен (2025 vs Август 2026): </a:t>
            </a:r>
            <a:r>
              <a:rPr sz="1500">
                <a:solidFill>
                  <a:srgbClr val="57534E"/>
                </a:solidFill>
                <a:latin typeface="Inter"/>
              </a:rPr>
              <a:t>В 2026 г. вклад реального объёма вырос с 0,8% до 6,1% при росте E-com на +24,3% и доле СТМ в Food 13,8%.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РОМИР (Панель 2026, Слайд 4): </a:t>
            </a:r>
            <a:r>
              <a:rPr sz="1500">
                <a:solidFill>
                  <a:srgbClr val="57534E"/>
                </a:solidFill>
                <a:latin typeface="Inter"/>
              </a:rPr>
              <a:t>Группа 35–54 лет (38% панели) тратит 31 281 руб./мес., а когорта 55+ лет даёт 36% панели (18 754 руб./мес.).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СберМаркетинг (Глобальные тренды): </a:t>
            </a:r>
            <a:r>
              <a:rPr sz="1500">
                <a:solidFill>
                  <a:srgbClr val="57534E"/>
                </a:solidFill>
                <a:latin typeface="Inter"/>
              </a:rPr>
              <a:t>73% ищут товары через GEO и ИИ-помощников без кликов; 81% проверяют состав, 58% доплачивают за честность.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Серебряный возраст и ЭКОПСИ: </a:t>
            </a:r>
            <a:r>
              <a:rPr sz="1500">
                <a:solidFill>
                  <a:srgbClr val="57534E"/>
                </a:solidFill>
                <a:latin typeface="Inter"/>
              </a:rPr>
              <a:t>Покупатели 50+ дают 28% e-com (чек 3 450 руб.). ЭКОПСИ: спрос определяет этап жизни и семья, а не возраст.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0" y="2011680"/>
          <a:ext cx="557784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7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Нильсен (2025–2026), РОМИР, СберМаркетинг, ЭКОПСИ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7. ВЫЯВЛЕННЫЕ ПРОТИВОРЕЧИЯ И МЕТОДОЛОГИЧЕСКИЕ РАСХОЖДЕНИЯ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Пять ключевых противоречий между опросом Инкофуд и данными рынка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11680"/>
          <a:ext cx="1069848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9260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8FAFC"/>
                          </a:solidFill>
                          <a:latin typeface="Inter"/>
                        </a:rPr>
                        <a:t>Зона противоречия</a:t>
                      </a:r>
                    </a:p>
                  </a:txBody>
                  <a:tcPr anchor="ctr" marL="73152" marR="73152" marT="36576" marB="36576">
                    <a:solidFill>
                      <a:srgbClr val="1F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8FAFC"/>
                          </a:solidFill>
                          <a:latin typeface="Inter"/>
                        </a:rPr>
                        <a:t>Данные U&amp;A Инкофуд (2026)</a:t>
                      </a:r>
                    </a:p>
                  </a:txBody>
                  <a:tcPr anchor="ctr" marL="73152" marR="73152" marT="36576" marB="36576">
                    <a:solidFill>
                      <a:srgbClr val="1F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8FAFC"/>
                          </a:solidFill>
                          <a:latin typeface="Inter"/>
                        </a:rPr>
                        <a:t>Данные других колод базы</a:t>
                      </a:r>
                    </a:p>
                  </a:txBody>
                  <a:tcPr anchor="ctr" marL="73152" marR="73152" marT="36576" marB="36576">
                    <a:solidFill>
                      <a:srgbClr val="1F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8FAFC"/>
                          </a:solidFill>
                          <a:latin typeface="Inter"/>
                        </a:rPr>
                        <a:t>Решение для стратегии Инкофуд</a:t>
                      </a:r>
                    </a:p>
                  </a:txBody>
                  <a:tcPr anchor="ctr" marL="73152" marR="73152" marT="36576" marB="36576">
                    <a:solidFill>
                      <a:srgbClr val="1F161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Inter"/>
                        </a:rPr>
                        <a:t>1. Слепое пятно 55+ лет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Опрос ограничен 18–55 годами (0% старше 55 лет, Слайд 65).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РОМИР: 55+ это 36% панели. Сбер: 50+ дают 28% e-com (чек 3 450 р.).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Включить 55+ в медиаплан «Белорусской традиции» (400 г в e-com).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Inter"/>
                        </a:rPr>
                        <a:t>2. Чистый состав vs Нитрит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60,7% (РФ) считают «без нитрита» уловкой (Сл. 42); серый цвет пугает.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СберМаркетинг: 81% проверяют состав и требуют чистую этикетку.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Сохранять розовый цвет свекольным соком (65,0–76,1% доверия).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Inter"/>
                        </a:rPr>
                        <a:t>3. High-Protein vs Мясо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55,3% хотят высокий белок (Сл. 30), но 21% видят в этом обман.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При равной цене (Сл. 44) выбирают мясо (37%) и состав (35%), белок — 20%.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Писать «18 г мясного белка из 100% говядины/индейки — 0% сои».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Inter"/>
                        </a:rPr>
                        <a:t>4. Офлайн-полка vs E-Com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Акцент на дефиците полки в обычных супермаркетах (17,5%, Сл. 51).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Нильсен: 80% полки у лидеров и СТМ (15%), а растёт онлайн (+24,3%).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Масштабироваться через Купер, Лавку, Самокат, Ozon и СТМ.</a:t>
                      </a:r>
                    </a:p>
                  </a:txBody>
                  <a:tcPr anchor="ctr" marL="73152" marR="73152" marT="36576" marB="36576">
                    <a:solidFill>
                      <a:srgbClr val="F5F0E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B91C1C"/>
                          </a:solidFill>
                          <a:latin typeface="Inter"/>
                        </a:rPr>
                        <a:t>5. Поколения vs Этап жизни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Часть отчётов делит ЦА по возрасту; разрыв Z и X = 3,8 из 5.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ЭКОПСИ: решает жизненный этап (семья); в Инкофуд 76,7% берут семье.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1917"/>
                          </a:solidFill>
                          <a:latin typeface="Inter"/>
                        </a:rPr>
                        <a:t>Разводить бренды по сценариям (перекус 150 г vs семья 400 г).</a:t>
                      </a:r>
                    </a:p>
                  </a:txBody>
                  <a:tcPr anchor="ctr" marL="73152" marR="73152" marT="36576" marB="36576"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8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2"/>
              </a:rPr>
              <a:t>Кросс-анализ: Инкофуд, Нильсен, РОМИР, СберМаркетинг, ЭКОПСИ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8. ПРЕДЛОЖЕНИЯ ПО АРХИТЕКТУРЕ ПОРТФЕЛЯ БРЕНДОВ ИНКОФУД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Разведение трёх брендов устраняет каннибализацию и барьер латиницы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Белорусская традиция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Флагман (7,0 в РФ): </a:t>
            </a:r>
            <a:r>
              <a:rPr sz="1400">
                <a:solidFill>
                  <a:srgbClr val="57534E"/>
                </a:solidFill>
                <a:latin typeface="Inter"/>
              </a:rPr>
              <a:t>Массовый бренд доверия для семей 35–54 и сегмента 55+ (66,7% ставят 7–10).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Ядро SKU: </a:t>
            </a:r>
            <a:r>
              <a:rPr sz="1400">
                <a:solidFill>
                  <a:srgbClr val="57534E"/>
                </a:solidFill>
                <a:latin typeface="Inter"/>
              </a:rPr>
              <a:t>ГОСТ варёная колбаса, сосиски (80,7% спроса), сервелат и мясные рулеты.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Дизайн и вес: </a:t>
            </a:r>
            <a:r>
              <a:rPr sz="1400">
                <a:solidFill>
                  <a:srgbClr val="57534E"/>
                </a:solidFill>
                <a:latin typeface="Inter"/>
              </a:rPr>
              <a:t>Красно-крафтовый код + окно 73%; 180–250 г в РФ и 350–500 г в РБ/E-com.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Natura (Clean &amp; Protein)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Суббренд ЗОЖ (6,6): </a:t>
            </a:r>
            <a:r>
              <a:rPr sz="1400">
                <a:solidFill>
                  <a:srgbClr val="57534E"/>
                </a:solidFill>
                <a:latin typeface="Inter"/>
              </a:rPr>
              <a:t>Чистая этикетка и высокий белок (25,2% ассоциаций с натуральностью).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Снятие латиницы: </a:t>
            </a:r>
            <a:r>
              <a:rPr sz="1400">
                <a:solidFill>
                  <a:srgbClr val="57534E"/>
                </a:solidFill>
                <a:latin typeface="Inter"/>
              </a:rPr>
              <a:t>Подпись «Мясная гастрономия из Беларуси» убирает 12% негатива к латинице.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Ядро SKU: </a:t>
            </a:r>
            <a:r>
              <a:rPr sz="1400">
                <a:solidFill>
                  <a:srgbClr val="57534E"/>
                </a:solidFill>
                <a:latin typeface="Inter"/>
              </a:rPr>
              <a:t>Слайсерная нарезка 100–150 г с Easy-Peel, ветчина из индейки и говядины.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Инкофуд (Корпоративный)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Зонтичный гарант: </a:t>
            </a:r>
            <a:r>
              <a:rPr sz="1400">
                <a:solidFill>
                  <a:srgbClr val="57534E"/>
                </a:solidFill>
                <a:latin typeface="Inter"/>
              </a:rPr>
              <a:t>Штамп «Завод Инко-Фуд, Брест» закрывает 46,2% запроса на производителя.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Сила в Беларуси: </a:t>
            </a:r>
            <a:r>
              <a:rPr sz="1400">
                <a:solidFill>
                  <a:srgbClr val="57534E"/>
                </a:solidFill>
                <a:latin typeface="Inter"/>
              </a:rPr>
              <a:t>Опора на 6,5% спонтанного знания в РБ для сыровяленых колбас (34,2%).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Премиальные СТМ: </a:t>
            </a:r>
            <a:r>
              <a:rPr sz="1400">
                <a:solidFill>
                  <a:srgbClr val="57534E"/>
                </a:solidFill>
                <a:latin typeface="Inter"/>
              </a:rPr>
              <a:t>Выпуск ко-брендовых и премиум-СТМ для сетей и дарксторов РФ (13,8% рынка).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9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2"/>
              </a:rPr>
              <a:t>Стратегия портфеля на базе Инкофуд U&amp;A (слайды 48–63) и Нильсен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_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9. ПРОДУКТОВАЯ МАТРИЦА И СТАНДАРТ УПАКОВКИ</a:t>
            </a:r>
          </a:p>
          <a:p>
            <a:pPr algn="l"/>
            <a:r>
              <a:rPr sz="2500" b="1">
                <a:solidFill>
                  <a:srgbClr val="1C1917"/>
                </a:solidFill>
                <a:latin typeface="Inter"/>
              </a:rPr>
              <a:t>Прозрачное окно 73% и честный КБЖУ растят конверсию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Стандарт лицевой стороны: </a:t>
            </a:r>
            <a:r>
              <a:rPr sz="1500">
                <a:solidFill>
                  <a:srgbClr val="57534E"/>
                </a:solidFill>
                <a:latin typeface="Inter"/>
              </a:rPr>
              <a:t>Окно &gt;=60% площади пачки (важно 72,7% РФ), крупная дата на фронте (61,7%) и завод «Инко-Фуд» (46,2%).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Формула High-Protein без скепсиса: </a:t>
            </a:r>
            <a:r>
              <a:rPr sz="1500">
                <a:solidFill>
                  <a:srgbClr val="57534E"/>
                </a:solidFill>
                <a:latin typeface="Inter"/>
              </a:rPr>
              <a:t>Вынос «18 г мясного белка на 100 г • 92% мяса • 0% сои» снимает 21% недоверия к маркетингу.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Приоритетные новинки (Слайд 41): </a:t>
            </a:r>
            <a:r>
              <a:rPr sz="1500">
                <a:solidFill>
                  <a:srgbClr val="57534E"/>
                </a:solidFill>
                <a:latin typeface="Inter"/>
              </a:rPr>
              <a:t>Запечённые мясные рулеты (20% спроса), сеты-ассорти из 3 видов нарезки (15%), сыр и фисташка (13%).</a:t>
            </a:r>
          </a:p>
          <a:p>
            <a:pPr algn="l" marL="201168" indent="-201168">
              <a:spcAft>
                <a:spcPts val="800"/>
              </a:spcAft>
              <a:buFont typeface="Inter"/>
              <a:buChar char="•"/>
            </a:pPr>
            <a:r>
              <a:rPr sz="1600" b="1">
                <a:solidFill>
                  <a:srgbClr val="1C1917"/>
                </a:solidFill>
                <a:latin typeface="Inter"/>
              </a:rPr>
              <a:t>Технологии упаковки и цвета: </a:t>
            </a:r>
            <a:r>
              <a:rPr sz="1500">
                <a:solidFill>
                  <a:srgbClr val="57534E"/>
                </a:solidFill>
                <a:latin typeface="Inter"/>
              </a:rPr>
              <a:t>Уголок Easy-Peel (64,2–71,6% одобрения) и фиксация цвета свекольным соком и чёрным чесноком (65,0–76,1%).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10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3"/>
              </a:rPr>
              <a:t>Инкофуд U&amp;A, слайды 31–46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10. ОМНИКАНАЛЬНАЯ СТРАТЕГИЯ ПРОДВИЖЕНИЯ НА ОСНОВЕ ВСЕХ 7 КОЛОД</a:t>
            </a:r>
          </a:p>
          <a:p>
            <a:pPr algn="l"/>
            <a:r>
              <a:rPr sz="2700" b="1">
                <a:solidFill>
                  <a:srgbClr val="1C1917"/>
                </a:solidFill>
                <a:latin typeface="Inter"/>
              </a:rPr>
              <a:t>Продвижение 2026–2027: E-com, GEO-поиск под ИИ и регионы РФ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Ритейл и Регионы РФ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Промо-трайл: </a:t>
            </a:r>
            <a:r>
              <a:rPr sz="1400">
                <a:solidFill>
                  <a:srgbClr val="57534E"/>
                </a:solidFill>
                <a:latin typeface="Inter"/>
              </a:rPr>
              <a:t>39% в РФ берут по акции: скидки 15–20% на входе и ассорти-пачки 150 г.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Региональный фокус: </a:t>
            </a:r>
            <a:r>
              <a:rPr sz="1400">
                <a:solidFill>
                  <a:srgbClr val="57534E"/>
                </a:solidFill>
                <a:latin typeface="Inter"/>
              </a:rPr>
              <a:t>Регионы растут быстрее столиц: выход в миллионники Урала и Сибири.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SKU для дискаунтеров: </a:t>
            </a:r>
            <a:r>
              <a:rPr sz="1400">
                <a:solidFill>
                  <a:srgbClr val="57534E"/>
                </a:solidFill>
                <a:latin typeface="Inter"/>
              </a:rPr>
              <a:t>Пачки 151–200 г с доступным чеком для дискаунтеров и магазинов у дома.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E-Com и Сегмент 50+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Ставка на E-Grocery: </a:t>
            </a:r>
            <a:r>
              <a:rPr sz="1400">
                <a:solidFill>
                  <a:srgbClr val="57534E"/>
                </a:solidFill>
                <a:latin typeface="Inter"/>
              </a:rPr>
              <a:t>Онлайн растёт на +24,3%: бренд-зоны в Купере, Ozon fresh, Лавке и Самокате.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Бандлы для 50+ (28%): </a:t>
            </a:r>
            <a:r>
              <a:rPr sz="1400">
                <a:solidFill>
                  <a:srgbClr val="57534E"/>
                </a:solidFill>
                <a:latin typeface="Inter"/>
              </a:rPr>
              <a:t>74% берут доставку из-за веса: наборы «Запас на неделю» под чек 3 450 р.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ЗОЖ-корзина 50+: </a:t>
            </a:r>
            <a:r>
              <a:rPr sz="1400">
                <a:solidFill>
                  <a:srgbClr val="57534E"/>
                </a:solidFill>
                <a:latin typeface="Inter"/>
              </a:rPr>
              <a:t>Продвижение «Natura» в e-com (22% корзины 50+ составляют ЗОЖ-товары).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16052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8" y="2212848"/>
            <a:ext cx="2889504" cy="375818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B91C1C"/>
                </a:solidFill>
                <a:latin typeface="Inter"/>
              </a:rPr>
              <a:t>GEO/AI и Сценарии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GEO-разметка под ИИ: </a:t>
            </a:r>
            <a:r>
              <a:rPr sz="1400">
                <a:solidFill>
                  <a:srgbClr val="57534E"/>
                </a:solidFill>
                <a:latin typeface="Inter"/>
              </a:rPr>
              <a:t>73% ищут через ИИ: теги «ГОСТ, без сои, 18 г белка, для завтрака».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Этапы жизни (ЭКОПСИ): </a:t>
            </a:r>
            <a:r>
              <a:rPr sz="1400">
                <a:solidFill>
                  <a:srgbClr val="57534E"/>
                </a:solidFill>
                <a:latin typeface="Inter"/>
              </a:rPr>
              <a:t>Таргетинг не по возрасту, а по сценариям: ланч-бокс, семья, гости.</a:t>
            </a:r>
          </a:p>
          <a:p>
            <a:pPr algn="l" marL="201168" indent="-201168">
              <a:spcAft>
                <a:spcPts val="600"/>
              </a:spcAft>
              <a:buFont typeface="Inter"/>
              <a:buChar char="•"/>
            </a:pPr>
            <a:r>
              <a:rPr sz="1500" b="1">
                <a:solidFill>
                  <a:srgbClr val="1C1917"/>
                </a:solidFill>
                <a:latin typeface="Inter"/>
              </a:rPr>
              <a:t>Эмоция радости: </a:t>
            </a:r>
            <a:r>
              <a:rPr sz="1400">
                <a:solidFill>
                  <a:srgbClr val="57534E"/>
                </a:solidFill>
                <a:latin typeface="Inter"/>
              </a:rPr>
              <a:t>По РОМИР: позиционирование «доступного удовольствия» (46,3% в РФ).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57534E"/>
                </a:solidFill>
                <a:latin typeface="Inter"/>
              </a:rPr>
              <a:t>Слайд 11  |  Источник: </a:t>
            </a:r>
            <a:r>
              <a:rPr sz="1400" b="1">
                <a:solidFill>
                  <a:srgbClr val="B91C1C"/>
                </a:solidFill>
                <a:latin typeface="Inter"/>
                <a:hlinkClick r:id="rId2"/>
              </a:rPr>
              <a:t>Синтез: Инкофуд, Нильсен, РОМИР, СберМаркетинг, ЭКОПСИ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058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800"/>
              </a:spcAft>
            </a:pPr>
            <a:r>
              <a:rPr sz="3600" b="1">
                <a:solidFill>
                  <a:srgbClr val="F8FAFC"/>
                </a:solidFill>
                <a:latin typeface="Inter"/>
              </a:rPr>
              <a:t>Прозрачный состав и белорусский ГОСТ — фундамент роста Инкофуд в 2026–2027 годах.</a:t>
            </a:r>
          </a:p>
          <a:p>
            <a:r>
              <a:rPr sz="2000">
                <a:solidFill>
                  <a:srgbClr val="FBBF24"/>
                </a:solidFill>
                <a:latin typeface="Inter"/>
              </a:rPr>
              <a:t>Спасибо за внимание  |  Вопросы и обсуждение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CBD5E1"/>
                </a:solidFill>
                <a:latin typeface="Inter"/>
              </a:rPr>
              <a:t>База исследований: github.com/Osmosy/Consumer-research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91C1C"/>
      </a:hlink>
      <a:folHlink>
        <a:srgbClr val="800080"/>
      </a:folHlink>
    </a:clrScheme>
    <a:fontScheme name="Office">
      <a:majorFont>
        <a:latin typeface="Inter"/>
        <a:ea typeface="Inter"/>
        <a:cs typeface="Inter"/>
        <a:font script="Jpan" typeface="Inter"/>
        <a:font script="Hang" typeface="Inter"/>
        <a:font script="Hans" typeface="Inter"/>
        <a:font script="Hant" typeface="Inter"/>
        <a:font script="Arab" typeface="Inter"/>
        <a:font script="Hebr" typeface="Inter"/>
        <a:font script="Thai" typeface="Inter"/>
        <a:font script="Ethi" typeface="Inter"/>
        <a:font script="Beng" typeface="Inter"/>
        <a:font script="Gujr" typeface="Inter"/>
        <a:font script="Khmr" typeface="Inter"/>
        <a:font script="Knda" typeface="Inter"/>
        <a:font script="Guru" typeface="Inter"/>
        <a:font script="Cans" typeface="Inter"/>
        <a:font script="Cher" typeface="Inter"/>
        <a:font script="Yiii" typeface="Inter"/>
        <a:font script="Tibt" typeface="Inter"/>
        <a:font script="Thaa" typeface="Inter"/>
        <a:font script="Deva" typeface="Inter"/>
        <a:font script="Telu" typeface="Inter"/>
        <a:font script="Taml" typeface="Inter"/>
        <a:font script="Syrc" typeface="Inter"/>
        <a:font script="Orya" typeface="Inter"/>
        <a:font script="Mlym" typeface="Inter"/>
        <a:font script="Laoo" typeface="Inter"/>
        <a:font script="Sinh" typeface="Inter"/>
        <a:font script="Mong" typeface="Inter"/>
        <a:font script="Viet" typeface="Inter"/>
        <a:font script="Uigh" typeface="Inter"/>
        <a:font script="Geor" typeface="Inter"/>
      </a:majorFont>
      <a:minorFont>
        <a:latin typeface="Inter"/>
        <a:ea typeface="Inter"/>
        <a:cs typeface="Inter"/>
        <a:font script="Jpan" typeface="Inter"/>
        <a:font script="Hang" typeface="Inter"/>
        <a:font script="Hans" typeface="Inter"/>
        <a:font script="Hant" typeface="Inter"/>
        <a:font script="Arab" typeface="Inter"/>
        <a:font script="Hebr" typeface="Inter"/>
        <a:font script="Thai" typeface="Inter"/>
        <a:font script="Ethi" typeface="Inter"/>
        <a:font script="Beng" typeface="Inter"/>
        <a:font script="Gujr" typeface="Inter"/>
        <a:font script="Khmr" typeface="Inter"/>
        <a:font script="Knda" typeface="Inter"/>
        <a:font script="Guru" typeface="Inter"/>
        <a:font script="Cans" typeface="Inter"/>
        <a:font script="Cher" typeface="Inter"/>
        <a:font script="Yiii" typeface="Inter"/>
        <a:font script="Tibt" typeface="Inter"/>
        <a:font script="Thaa" typeface="Inter"/>
        <a:font script="Deva" typeface="Inter"/>
        <a:font script="Telu" typeface="Inter"/>
        <a:font script="Taml" typeface="Inter"/>
        <a:font script="Syrc" typeface="Inter"/>
        <a:font script="Orya" typeface="Inter"/>
        <a:font script="Mlym" typeface="Inter"/>
        <a:font script="Laoo" typeface="Inter"/>
        <a:font script="Sinh" typeface="Inter"/>
        <a:font script="Mong" typeface="Inter"/>
        <a:font script="Viet" typeface="Inter"/>
        <a:font script="Uigh" typeface="Inter"/>
        <a:font script="Geor"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