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РФ (%)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Sheet1!$A$2:$A$8</c:f>
              <c:strCache>
                <c:ptCount val="7"/>
                <c:pt idx="0">
                  <c:v>Вкус</c:v>
                </c:pt>
                <c:pt idx="1">
                  <c:v>Качество</c:v>
                </c:pt>
                <c:pt idx="2">
                  <c:v>Цена</c:v>
                </c:pt>
                <c:pt idx="3">
                  <c:v>Срок годн.</c:v>
                </c:pt>
                <c:pt idx="4">
                  <c:v>Чистый состав</c:v>
                </c:pt>
                <c:pt idx="5">
                  <c:v>Доля мяса</c:v>
                </c:pt>
                <c:pt idx="6">
                  <c:v>Акции/скидки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66.0</c:v>
                </c:pt>
                <c:pt idx="1">
                  <c:v>65.3</c:v>
                </c:pt>
                <c:pt idx="2">
                  <c:v>60.2</c:v>
                </c:pt>
                <c:pt idx="3">
                  <c:v>53.3</c:v>
                </c:pt>
                <c:pt idx="4">
                  <c:v>53.2</c:v>
                </c:pt>
                <c:pt idx="5">
                  <c:v>51.7</c:v>
                </c:pt>
                <c:pt idx="6">
                  <c:v>39.0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РБ (%)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Sheet1!$A$2:$A$8</c:f>
              <c:strCache>
                <c:ptCount val="7"/>
                <c:pt idx="0">
                  <c:v>Вкус</c:v>
                </c:pt>
                <c:pt idx="1">
                  <c:v>Качество</c:v>
                </c:pt>
                <c:pt idx="2">
                  <c:v>Цена</c:v>
                </c:pt>
                <c:pt idx="3">
                  <c:v>Срок годн.</c:v>
                </c:pt>
                <c:pt idx="4">
                  <c:v>Чистый состав</c:v>
                </c:pt>
                <c:pt idx="5">
                  <c:v>Доля мяса</c:v>
                </c:pt>
                <c:pt idx="6">
                  <c:v>Акции/скидки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57.4</c:v>
                </c:pt>
                <c:pt idx="1">
                  <c:v>61.9</c:v>
                </c:pt>
                <c:pt idx="2">
                  <c:v>51.6</c:v>
                </c:pt>
                <c:pt idx="3">
                  <c:v>53.5</c:v>
                </c:pt>
                <c:pt idx="4">
                  <c:v>47.7</c:v>
                </c:pt>
                <c:pt idx="5">
                  <c:v>46.5</c:v>
                </c:pt>
                <c:pt idx="6">
                  <c:v>17.4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C1917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C1917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7534E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C1917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Белорусская традиция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Sheet1!$A$2:$A$7</c:f>
              <c:strCache>
                <c:ptCount val="6"/>
                <c:pt idx="0">
                  <c:v>Знание РФ (%)</c:v>
                </c:pt>
                <c:pt idx="1">
                  <c:v>Покупка РФ (%)</c:v>
                </c:pt>
                <c:pt idx="2">
                  <c:v>Знание РБ (%)</c:v>
                </c:pt>
                <c:pt idx="3">
                  <c:v>Покупка РБ (%)</c:v>
                </c:pt>
                <c:pt idx="4">
                  <c:v>Оценка РФ (x10)</c:v>
                </c:pt>
                <c:pt idx="5">
                  <c:v>Оценка РБ (x10)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13.3</c:v>
                </c:pt>
                <c:pt idx="1">
                  <c:v>2.7</c:v>
                </c:pt>
                <c:pt idx="2">
                  <c:v>28.4</c:v>
                </c:pt>
                <c:pt idx="3">
                  <c:v>7.7</c:v>
                </c:pt>
                <c:pt idx="4">
                  <c:v>70.0</c:v>
                </c:pt>
                <c:pt idx="5">
                  <c:v>67.0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Natura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Sheet1!$A$2:$A$7</c:f>
              <c:strCache>
                <c:ptCount val="6"/>
                <c:pt idx="0">
                  <c:v>Знание РФ (%)</c:v>
                </c:pt>
                <c:pt idx="1">
                  <c:v>Покупка РФ (%)</c:v>
                </c:pt>
                <c:pt idx="2">
                  <c:v>Знание РБ (%)</c:v>
                </c:pt>
                <c:pt idx="3">
                  <c:v>Покупка РБ (%)</c:v>
                </c:pt>
                <c:pt idx="4">
                  <c:v>Оценка РФ (x10)</c:v>
                </c:pt>
                <c:pt idx="5">
                  <c:v>Оценка РБ (x10)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12.3</c:v>
                </c:pt>
                <c:pt idx="1">
                  <c:v>2.0</c:v>
                </c:pt>
                <c:pt idx="2">
                  <c:v>16.8</c:v>
                </c:pt>
                <c:pt idx="3">
                  <c:v>5.8</c:v>
                </c:pt>
                <c:pt idx="4">
                  <c:v>66.0</c:v>
                </c:pt>
                <c:pt idx="5">
                  <c:v>65.0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C1917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C1917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7534E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C1917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год (%)</c:v>
                </c:pt>
              </c:strCache>
            </c:strRef>
          </c:tx>
          <c:spPr>
            <a:solidFill>
              <a:srgbClr val="57534E"/>
            </a:solidFill>
          </c:spPr>
          <c:cat>
            <c:strRef>
              <c:f>Sheet1!$A$2:$A$6</c:f>
              <c:strCache>
                <c:ptCount val="5"/>
                <c:pt idx="0">
                  <c:v>Рост FMCG (деньги)</c:v>
                </c:pt>
                <c:pt idx="1">
                  <c:v>Вклад инфляции</c:v>
                </c:pt>
                <c:pt idx="2">
                  <c:v>Реальный объём</c:v>
                </c:pt>
                <c:pt idx="3">
                  <c:v>Рост E-com (деньги)</c:v>
                </c:pt>
                <c:pt idx="4">
                  <c:v>Доля СТМ (25/Food 26)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11.7</c:v>
                </c:pt>
                <c:pt idx="1">
                  <c:v>11.0</c:v>
                </c:pt>
                <c:pt idx="2">
                  <c:v>0.8</c:v>
                </c:pt>
                <c:pt idx="3">
                  <c:v>18.0</c:v>
                </c:pt>
                <c:pt idx="4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Янв–Авг 2026 (%)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Sheet1!$A$2:$A$6</c:f>
              <c:strCache>
                <c:ptCount val="5"/>
                <c:pt idx="0">
                  <c:v>Рост FMCG (деньги)</c:v>
                </c:pt>
                <c:pt idx="1">
                  <c:v>Вклад инфляции</c:v>
                </c:pt>
                <c:pt idx="2">
                  <c:v>Реальный объём</c:v>
                </c:pt>
                <c:pt idx="3">
                  <c:v>Рост E-com (деньги)</c:v>
                </c:pt>
                <c:pt idx="4">
                  <c:v>Доля СТМ (25/Food 26)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10.6</c:v>
                </c:pt>
                <c:pt idx="1">
                  <c:v>4.5</c:v>
                </c:pt>
                <c:pt idx="2">
                  <c:v>6.1</c:v>
                </c:pt>
                <c:pt idx="3">
                  <c:v>35.0</c:v>
                </c:pt>
                <c:pt idx="4">
                  <c:v>15.3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C1917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C1917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7534E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1C1917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Osmosy/Consumer-research/blob/main/decks/inkofood-2026/inkofood-2026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hyperlink" Target="https://github.com/Osmosy/Consumer-research/blob/main/decks/inkofood-2026/inkofood-2026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Osmosy/Consumer-research/blob/main/decks/inkofood-2026/inkofood-2026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smosy/Consumer-research/blob/main/decks/inkofood-2026/inkofood-2026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hyperlink" Target="https://github.com/Osmosy/Consumer-research/blob/main/decks/inkofood-2026/inkofood-2026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hyperlink" Target="https://github.com/Osmosy/Consumer-research/blob/main/reviews/2026-10-25-inkofood/AGENT-REVIEW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smosy/Consumer-research/blob/main/reviews/2026-10-25-inkofood/AGENT-REVIEW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smosy/Consumer-research/blob/main/decks/inkofood-2026/inkofood-2026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Osmosy/Consumer-research/blob/main/decks/inkofood-2026/inkofood-2026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smosy/Consumer-research/blob/main/reviews/2026-10-25-inkofood/AGENT-REVIEW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9875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FBBF24"/>
                </a:solidFill>
                <a:latin typeface="Inter"/>
              </a:rPr>
              <a:t>КРОСС-АНАЛИЗ БАЗЫ CONSUMER-RESEARCH | ВЫВЕРЕНО ПО AGENT-REVIEW</a:t>
            </a:r>
          </a:p>
          <a:p>
            <a:r>
              <a:rPr sz="4000" b="1">
                <a:solidFill>
                  <a:srgbClr val="F8FAFC"/>
                </a:solidFill>
                <a:latin typeface="Inter"/>
              </a:rPr>
              <a:t>Мясная гастрономия 2026: U&amp;A Инкофуд и стратегия брендов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rgbClr val="CBD5E1"/>
                </a:solidFill>
                <a:latin typeface="Inter"/>
              </a:rPr>
              <a:t>Синтез 7 исследований, 7 разрешённых расхождений и 10 решений для РФ и РБ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Inter"/>
              </a:rPr>
              <a:t>Источник: github.com/Osmosy/Consumer-research (Итерация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1. ИНКОФУД U&amp;A (ОКТЯБРЬ 2026) — ВЫБОРКА И ПРОФИЛЬ</a:t>
            </a:r>
          </a:p>
          <a:p>
            <a:pPr algn="l"/>
            <a:r>
              <a:rPr sz="2500" b="1">
                <a:solidFill>
                  <a:srgbClr val="1C1917"/>
                </a:solidFill>
                <a:latin typeface="Inter"/>
              </a:rPr>
              <a:t>Покупка 2–3 раза в неделю для семьи — ядро спроса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Выборка и соц-демо (page=2, 65-68): </a:t>
            </a:r>
            <a:r>
              <a:rPr sz="1500">
                <a:solidFill>
                  <a:srgbClr val="57534E"/>
                </a:solidFill>
                <a:latin typeface="Inter"/>
              </a:rPr>
              <a:t>n=900 (600 РФ, 300 РБ); женщины 61%, дети у 52%, 55+ (Untitled 1) — 10,2%, доход 70% (65,2% техника + 4,8% дорогие).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Частота покупки (page=4): </a:t>
            </a:r>
            <a:r>
              <a:rPr sz="1500">
                <a:solidFill>
                  <a:srgbClr val="57534E"/>
                </a:solidFill>
                <a:latin typeface="Inter"/>
              </a:rPr>
              <a:t>50,7% в РФ и 55,8% в РБ берут гастрономию 2–3 раза в неделю; ежедневно — 15,7% (РФ) и 20,9% (РБ).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Семейный характер (page=5): </a:t>
            </a:r>
            <a:r>
              <a:rPr sz="1500">
                <a:solidFill>
                  <a:srgbClr val="57534E"/>
                </a:solidFill>
                <a:latin typeface="Inter"/>
              </a:rPr>
              <a:t>76,7% в РФ и 78,1% в РБ покупают для себя и семьи; только для себя — 16,3% (РФ) и 9,7% (РБ).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Лидеры корзины (page=7): </a:t>
            </a:r>
            <a:r>
              <a:rPr sz="1500">
                <a:solidFill>
                  <a:srgbClr val="57534E"/>
                </a:solidFill>
                <a:latin typeface="Inter"/>
              </a:rPr>
              <a:t>Сосиски (80,7% РФ | 76,1% РБ), варёная колбаса (74,5% | 65,8%) и ветчина (59,5% | 61,3%).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2  |  </a:t>
            </a:r>
            <a:r>
              <a:rPr sz="1400" b="1">
                <a:solidFill>
                  <a:srgbClr val="B91C1C"/>
                </a:solidFill>
                <a:latin typeface="Inter"/>
                <a:hlinkClick r:id="rId3"/>
              </a:rPr>
              <a:t>deck=inkofood-2026, page=2, 4-5, 7, 65-68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2. ДРАЙВЕРЫ, СИТУАЦИИ ПОТРЕБЛЕНИЯ И БАРЬЕРЫ (A-03..A-05)</a:t>
            </a:r>
          </a:p>
          <a:p>
            <a:pPr algn="l"/>
            <a:r>
              <a:rPr sz="2600" b="1">
                <a:solidFill>
                  <a:srgbClr val="1C1917"/>
                </a:solidFill>
                <a:latin typeface="Inter"/>
              </a:rPr>
              <a:t>Завтрак и вкус ведут категорию, а несвежесть и запах — барьер №1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Главные сценарии (page=6, 9): </a:t>
            </a:r>
            <a:r>
              <a:rPr sz="1500">
                <a:solidFill>
                  <a:srgbClr val="57534E"/>
                </a:solidFill>
                <a:latin typeface="Inter"/>
              </a:rPr>
              <a:t>В РФ №1 — завтрак (60,3%, драйвер 62,3%) и перекус (54,8%); в РБ — перекус (53,5%) и в дорогу (41,9%).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Эмоция vs Польза (page=6, 9): </a:t>
            </a:r>
            <a:r>
              <a:rPr sz="1500">
                <a:solidFill>
                  <a:srgbClr val="57534E"/>
                </a:solidFill>
                <a:latin typeface="Inter"/>
              </a:rPr>
              <a:t>46,3% в РФ берут, когда хочется вкусного (35,3% побаловать себя); «полезный продукт» — лишь 8,2% РФ / 1,3% РБ.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Акции и бренд (page=8, 13): </a:t>
            </a:r>
            <a:r>
              <a:rPr sz="1500">
                <a:solidFill>
                  <a:srgbClr val="57534E"/>
                </a:solidFill>
                <a:latin typeface="Inter"/>
              </a:rPr>
              <a:t>Акции важны 39,0% в РФ vs 17,4% в РБ; бренд важен 25,5% vs 9,7%, но незнакомый бренд — барьер для 21,0% / 16,8%.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Барьеры и запах (page=13-15): </a:t>
            </a:r>
            <a:r>
              <a:rPr sz="1500">
                <a:solidFill>
                  <a:srgbClr val="57534E"/>
                </a:solidFill>
                <a:latin typeface="Inter"/>
              </a:rPr>
              <a:t>Несвежесть (67,8% РФ | 66,5% РБ), качество (67,5% | 60,0%), запах в открытых ответах — 64% РФ / 65% РБ.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11680"/>
          <a:ext cx="55778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3  |  </a:t>
            </a:r>
            <a:r>
              <a:rPr sz="1400" b="1">
                <a:solidFill>
                  <a:srgbClr val="B91C1C"/>
                </a:solidFill>
                <a:latin typeface="Inter"/>
                <a:hlinkClick r:id="rId3"/>
              </a:rPr>
              <a:t>deck=inkofood-2026, page=6, 8-9, 13-15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3. НАРЕЗКА, СЕРВЕЛАТ И ПРЕМИАЛЬНАЯ ВАРЁНАЯ КОЛБАСА</a:t>
            </a:r>
          </a:p>
          <a:p>
            <a:pPr algn="l"/>
            <a:r>
              <a:rPr sz="2400" b="1">
                <a:solidFill>
                  <a:srgbClr val="1C1917"/>
                </a:solidFill>
                <a:latin typeface="Inter"/>
              </a:rPr>
              <a:t>Нарезка в РФ популярнее в 2,6 раза; боль — вскрытие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Нарезка и её барьеры (page=7, 19-20, 23): </a:t>
            </a:r>
            <a:r>
              <a:rPr sz="1500">
                <a:solidFill>
                  <a:srgbClr val="57534E"/>
                </a:solidFill>
                <a:latin typeface="Inter"/>
              </a:rPr>
              <a:t>Берут 45,2% РФ vs 17,4% РБ (31–33% планово, ~22% импульсно). Проблемы пачки: сложно открыть (≈34%), не закрыть (≈28%).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Сервелат (page=25-27): </a:t>
            </a:r>
            <a:r>
              <a:rPr sz="1500">
                <a:solidFill>
                  <a:srgbClr val="57534E"/>
                </a:solidFill>
                <a:latin typeface="Inter"/>
              </a:rPr>
              <a:t>Вкус (31%), мелкий шпик (23%), копчение (20%). Раз в неделю и чаще берут 29,5% РФ и 29,6% РБ (21,9% + 7,7%).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Потенциал премиум-варёнки (page=38): </a:t>
            </a:r>
            <a:r>
              <a:rPr sz="1500">
                <a:solidFill>
                  <a:srgbClr val="57534E"/>
                </a:solidFill>
                <a:latin typeface="Inter"/>
              </a:rPr>
              <a:t>60,0% в РФ и 58,9% в РБ принимают премиальную варёную колбасу при заметном отличии качества (скептики 32,7% / 36,3%).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Что доказывает премию (page=39): </a:t>
            </a:r>
            <a:r>
              <a:rPr sz="1500">
                <a:solidFill>
                  <a:srgbClr val="57534E"/>
                </a:solidFill>
                <a:latin typeface="Inter"/>
              </a:rPr>
              <a:t>Состав (63,2% РФ), мясо (57,0%), сырьё (53,8%), минимум добавок (50,0%); цена (16,2%) и пачка (16,0%) не делают премию.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4  |  </a:t>
            </a:r>
            <a:r>
              <a:rPr sz="1400" b="1">
                <a:solidFill>
                  <a:srgbClr val="B91C1C"/>
                </a:solidFill>
                <a:latin typeface="Inter"/>
                <a:hlinkClick r:id="rId3"/>
              </a:rPr>
              <a:t>deck=inkofood-2026, page=7, 19-20, 23, 25-27, 38-39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4. ВЫСОКИЙ БЕЛОК, ТРЕБОВАНИЯ К УПАКОВКЕ И НОВИНКИ (A-06..A-09)</a:t>
            </a:r>
          </a:p>
          <a:p>
            <a:pPr algn="l"/>
            <a:r>
              <a:rPr sz="2700" b="1">
                <a:solidFill>
                  <a:srgbClr val="1C1917"/>
                </a:solidFill>
                <a:latin typeface="Inter"/>
              </a:rPr>
              <a:t>Прозрачное окно важнее обещаний, а белок работает как усилитель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Высокий белок (page=29-31)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Важность белка: </a:t>
            </a:r>
            <a:r>
              <a:rPr sz="1400">
                <a:solidFill>
                  <a:srgbClr val="57534E"/>
                </a:solidFill>
                <a:latin typeface="Inter"/>
              </a:rPr>
              <a:t>Значима для 66,9% в РФ и 68,1% в РБ; клеймо растит покупку у 55,3% / 58,9%.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Барьер недоверия: </a:t>
            </a:r>
            <a:r>
              <a:rPr sz="1400">
                <a:solidFill>
                  <a:srgbClr val="57534E"/>
                </a:solidFill>
                <a:latin typeface="Inter"/>
              </a:rPr>
              <a:t>21% видят маркетинг, 12% проверяют КБЖУ, 8% боятся соевого белка.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Приоритет мяса: </a:t>
            </a:r>
            <a:r>
              <a:rPr sz="1400">
                <a:solidFill>
                  <a:srgbClr val="57534E"/>
                </a:solidFill>
                <a:latin typeface="Inter"/>
              </a:rPr>
              <a:t>При равной цене выбирают мясо (37% РФ) и состав (35%), а белок — 20% (page=44).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Упаковка и вес (page=33-36)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Видимость среза: </a:t>
            </a:r>
            <a:r>
              <a:rPr sz="1400">
                <a:solidFill>
                  <a:srgbClr val="57534E"/>
                </a:solidFill>
                <a:latin typeface="Inter"/>
              </a:rPr>
              <a:t>Прозрачная пачка нужна 72,7% (РФ) и 74,2% (РБ); глухая пугает 63,2% / 60,0%.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Честная маркировка: </a:t>
            </a:r>
            <a:r>
              <a:rPr sz="1400">
                <a:solidFill>
                  <a:srgbClr val="57534E"/>
                </a:solidFill>
                <a:latin typeface="Inter"/>
              </a:rPr>
              <a:t>Дата на фронте важна 61,7% (РФ), мелкий шрифт отталкивает 59,0% / 52,3%.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Разница весов: </a:t>
            </a:r>
            <a:r>
              <a:rPr sz="1400">
                <a:solidFill>
                  <a:srgbClr val="57534E"/>
                </a:solidFill>
                <a:latin typeface="Inter"/>
              </a:rPr>
              <a:t>В РФ №1 — 151–250 г (50,8%), а в РБ лидирует вес 251–500 г (45,8%).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Новинки и ГОСТ (page=41-43)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Ожидаемые новинки: </a:t>
            </a:r>
            <a:r>
              <a:rPr sz="1400">
                <a:solidFill>
                  <a:srgbClr val="57534E"/>
                </a:solidFill>
                <a:latin typeface="Inter"/>
              </a:rPr>
              <a:t>Мясные рулеты (20%), ассорти нарезок (15%), необычные начинки и вкусы (13%).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Реальная польза: </a:t>
            </a:r>
            <a:r>
              <a:rPr sz="1400">
                <a:solidFill>
                  <a:srgbClr val="57534E"/>
                </a:solidFill>
                <a:latin typeface="Inter"/>
              </a:rPr>
              <a:t>Натур. цвет ценят 65,0% РФ / 76,1% РБ, Easy-Peel — 64,2% / 71,6%, без нитрита — 39,3%.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Доплата за ГОСТ: </a:t>
            </a:r>
            <a:r>
              <a:rPr sz="1400">
                <a:solidFill>
                  <a:srgbClr val="57534E"/>
                </a:solidFill>
                <a:latin typeface="Inter"/>
              </a:rPr>
              <a:t>Готовы доплатить 64,4% РФ / 64,6% РБ, но в основном до 10% (35,5% / 40,9%).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5  |  </a:t>
            </a:r>
            <a:r>
              <a:rPr sz="1400" b="1">
                <a:solidFill>
                  <a:srgbClr val="B91C1C"/>
                </a:solidFill>
                <a:latin typeface="Inter"/>
                <a:hlinkClick r:id="rId2"/>
              </a:rPr>
              <a:t>deck=inkofood-2026, page=29-36, 41-44,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5. ПОЗИЦИИ И ОЦЕНКА БРЕНДОВ ИНКОФУД В РФ И РБ (A-10)</a:t>
            </a:r>
          </a:p>
          <a:p>
            <a:pPr algn="l"/>
            <a:r>
              <a:rPr sz="2700" b="1">
                <a:solidFill>
                  <a:srgbClr val="1C1917"/>
                </a:solidFill>
                <a:latin typeface="Inter"/>
              </a:rPr>
              <a:t>«Белорусская традиция» обходит «Natura»; барьер — полка, а не цена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Воронка брендов (page=49-50): </a:t>
            </a:r>
            <a:r>
              <a:rPr sz="1500">
                <a:solidFill>
                  <a:srgbClr val="57534E"/>
                </a:solidFill>
                <a:latin typeface="Inter"/>
              </a:rPr>
              <a:t>РФ: Бел. традиция 13,3% знание / 2,7% покупка, Natura 12,3% / 2,0%; РБ: 28,4% / 7,7% и 16,8% / 5,8% (Инко-Фуд спонтанно 6,5%).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Причины непокупки в РБ (page=51): </a:t>
            </a:r>
            <a:r>
              <a:rPr sz="1500">
                <a:solidFill>
                  <a:srgbClr val="57534E"/>
                </a:solidFill>
                <a:latin typeface="Inter"/>
              </a:rPr>
              <a:t>Незнание (24,5% Бел. традиция | 32,9% Natura) и нехватка полки (17,5% | 15,8%), а не цена (всего 4,9% и 4,8%).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Бел. традиция vs Natura (page=53, 56-60): </a:t>
            </a:r>
            <a:r>
              <a:rPr sz="1500">
                <a:solidFill>
                  <a:srgbClr val="57534E"/>
                </a:solidFill>
                <a:latin typeface="Inter"/>
              </a:rPr>
              <a:t>БТ (7,0 РФ: 58,5% ставят 7–10, 30,3% — 9–10) = качественный 22,7%; Natura (6,6 РФ) = натуральный 15,1%, современный 14,9%.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Беловежский гостинец (page=61-63): </a:t>
            </a:r>
            <a:r>
              <a:rPr sz="1500">
                <a:solidFill>
                  <a:srgbClr val="57534E"/>
                </a:solidFill>
                <a:latin typeface="Inter"/>
              </a:rPr>
              <a:t>Средняя оценка 7,0 в РБ (низких 1–4 всего 11%) против 6,3 в РФ (низких 1–4 — 24%): сильный подарочный код для РБ.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11680"/>
          <a:ext cx="55778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6  |  </a:t>
            </a:r>
            <a:r>
              <a:rPr sz="1400" b="1">
                <a:solidFill>
                  <a:srgbClr val="B91C1C"/>
                </a:solidFill>
                <a:latin typeface="Inter"/>
                <a:hlinkClick r:id="rId3"/>
              </a:rPr>
              <a:t>deck=inkofood-2026, page=49-63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6. СОПОСТАВЛЕНИЕ С 6 ИССЛЕДОВАНИЯМИ РЕПОЗИТОРИЯ CONSUMER-RESEARCH</a:t>
            </a:r>
          </a:p>
          <a:p>
            <a:pPr algn="l"/>
            <a:r>
              <a:rPr sz="2600" b="1">
                <a:solidFill>
                  <a:srgbClr val="1C1917"/>
                </a:solidFill>
                <a:latin typeface="Inter"/>
              </a:rPr>
              <a:t>В 2026 г. FMCG растёт объёмом (+6,1%), а онлайн прибавляет +35,0%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Нильсен (2025 vs Август 2026): </a:t>
            </a:r>
            <a:r>
              <a:rPr sz="1500">
                <a:solidFill>
                  <a:srgbClr val="57534E"/>
                </a:solidFill>
                <a:latin typeface="Inter"/>
              </a:rPr>
              <a:t>В 2026 г. объём вырос с 0,8% до 6,1%, онлайн вырос на +35,0% (+37,6% в уп., page=5, 11, 13), доля СТМ в Food — 15,3% (page=8).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Полка, мясо и СТМ (Нильсен): </a:t>
            </a:r>
            <a:r>
              <a:rPr sz="1500">
                <a:solidFill>
                  <a:srgbClr val="57534E"/>
                </a:solidFill>
                <a:latin typeface="Inter"/>
              </a:rPr>
              <a:t>80% продаж дают 2,9% SKU (page=15); мясо в 2025 г. +9,9% в деньгах и +3,7% в уп. (page=8); упакованные колбасы — лидер роста СТМ.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Панель РОМИР (page=4, 7, 18, 21): </a:t>
            </a:r>
            <a:r>
              <a:rPr sz="1500">
                <a:solidFill>
                  <a:srgbClr val="57534E"/>
                </a:solidFill>
                <a:latin typeface="Inter"/>
              </a:rPr>
              <a:t>35–54 лет (38% панели / 31 281 ₽), 55+ (36% панели / 18 754 ₽); индекс уверенности упал с +11 до -9; отказ от деликатесов — ранг 17/34.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СберМаркетинг и ЭКОПСИ: </a:t>
            </a:r>
            <a:r>
              <a:rPr sz="1500">
                <a:solidFill>
                  <a:srgbClr val="57534E"/>
                </a:solidFill>
                <a:latin typeface="Inter"/>
              </a:rPr>
              <a:t>23% начинают поиск с ИИ (73% используют AI в быту, page=7, 9); Silver 55–75 лет: 31/23/21/19/6% (page=5); ЭКОПСИ: отличий поколений нет.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011680"/>
          <a:ext cx="55778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7  |  </a:t>
            </a:r>
            <a:r>
              <a:rPr sz="1400" b="1">
                <a:solidFill>
                  <a:srgbClr val="B91C1C"/>
                </a:solidFill>
                <a:latin typeface="Inter"/>
                <a:hlinkClick r:id="rId3"/>
              </a:rPr>
              <a:t>deck=nielsen-*, romir-trendy-2026, sbermarket-*, ekopsi-*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7. РЕЕСТР РАСХОЖДЕНИЙ И МЕТОДОЛОГИЧЕСКИХ ПРОТИВОРЕЧИЙ (D-01..D-07)</a:t>
            </a:r>
          </a:p>
          <a:p>
            <a:pPr algn="l"/>
            <a:r>
              <a:rPr sz="2600" b="1">
                <a:solidFill>
                  <a:srgbClr val="1C1917"/>
                </a:solidFill>
                <a:latin typeface="Inter"/>
              </a:rPr>
              <a:t>Семь расхождений между источниками и их верифицированное разрешение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338328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Код и спор</a:t>
                      </a:r>
                    </a:p>
                  </a:txBody>
                  <a:tcPr anchor="ctr" marL="73152" marR="73152" marT="27432" marB="27432">
                    <a:solidFill>
                      <a:srgbClr val="1F16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Расхождение в оценках</a:t>
                      </a:r>
                    </a:p>
                  </a:txBody>
                  <a:tcPr anchor="ctr" marL="73152" marR="73152" marT="27432" marB="27432">
                    <a:solidFill>
                      <a:srgbClr val="1F16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Факт по первичным колодам</a:t>
                      </a:r>
                    </a:p>
                  </a:txBody>
                  <a:tcPr anchor="ctr" marL="73152" marR="73152" marT="27432" marB="27432">
                    <a:solidFill>
                      <a:srgbClr val="1F16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"/>
                        </a:rPr>
                        <a:t>Адрес (deck=..., page=...)</a:t>
                      </a:r>
                    </a:p>
                  </a:txBody>
                  <a:tcPr anchor="ctr" marL="73152" marR="73152" marT="27432" marB="27432">
                    <a:solidFill>
                      <a:srgbClr val="1F161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Inter"/>
                        </a:rPr>
                        <a:t>D-01. Рост E-com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+24,3% против +35,0%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+35,0% в деньгах, +37,6% в упаковках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nielsen-fmcg-do-avg-2026, p=5,11,13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Inter"/>
                        </a:rPr>
                        <a:t>D-02. Доля СТМ Food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13,8% против 15,3%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15,3% (13,8% — рост СТМ молочки в уп.)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nielsen-fmcg-do-avg-2026, p=8-9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Inter"/>
                        </a:rPr>
                        <a:t>D-03. Концентрация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80% у топ-брендов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80% продаж формируют 2,9% ключевых SKU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nielsen-itogi-2025, p=15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Inter"/>
                        </a:rPr>
                        <a:t>D-04. Соц-демо U&amp;A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Пол 54/46, дети 42%, дох. 68%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Пол 61/39, дети 52%, доход 70% (65,2+4,8%)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inkofood-2026, p=2, 65-68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Inter"/>
                        </a:rPr>
                        <a:t>D-05. Квота 55+ лет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0% в U&amp;A против 36% РОМИР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В U&amp;A 10,2% (Untitled 1) vs 36% панели РОМИР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inkofood p=66-67; romir p=4</a:t>
                      </a:r>
                    </a:p>
                  </a:txBody>
                  <a:tcPr anchor="ctr" marL="73152" marR="73152" marT="27432" marB="27432">
                    <a:solidFill>
                      <a:srgbClr val="FA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Inter"/>
                        </a:rPr>
                        <a:t>D-06/07. Нитрит и Z/X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Без нитрита и теория поколений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60,7% считают уловкой; отличий поколений нет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917"/>
                          </a:solidFill>
                          <a:latin typeface="Inter"/>
                        </a:rPr>
                        <a:t>inkofood p=42; ekopsi p=19</a:t>
                      </a:r>
                    </a:p>
                  </a:txBody>
                  <a:tcPr anchor="ctr" marL="73152" marR="73152" marT="27432" marB="27432"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8  |  </a:t>
            </a:r>
            <a:r>
              <a:rPr sz="1400" b="1">
                <a:solidFill>
                  <a:srgbClr val="B91C1C"/>
                </a:solidFill>
                <a:latin typeface="Inter"/>
                <a:hlinkClick r:id="rId2"/>
              </a:rPr>
              <a:t>AGENT-REVIEW.md: Раздел 3 (Расхождения D-01..D-07)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8. АРХИТЕКТУРА ПОРТФЕЛЯ БРЕНДОВ ИНКОФУД (PAGE=49-63)</a:t>
            </a:r>
          </a:p>
          <a:p>
            <a:pPr algn="l"/>
            <a:r>
              <a:rPr sz="2700" b="1">
                <a:solidFill>
                  <a:srgbClr val="1C1917"/>
                </a:solidFill>
                <a:latin typeface="Inter"/>
              </a:rPr>
              <a:t>Чёткое разведение ролей брендов устраняет барьер латиницы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Белорусская традиция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Флагман (7,0 в РФ): </a:t>
            </a:r>
            <a:r>
              <a:rPr sz="1400">
                <a:solidFill>
                  <a:srgbClr val="57534E"/>
                </a:solidFill>
                <a:latin typeface="Inter"/>
              </a:rPr>
              <a:t>58,5% в РФ ставят 7–10 баллов (30,3% — 9–10, page=53); качественный 22,7%.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Ядро SKU и ГОСТ: </a:t>
            </a:r>
            <a:r>
              <a:rPr sz="1400">
                <a:solidFill>
                  <a:srgbClr val="57534E"/>
                </a:solidFill>
                <a:latin typeface="Inter"/>
              </a:rPr>
              <a:t>Варёная колбаса ГОСТ (премия &lt;=10%, page=43), сосиски (80,7%), сервелат и рулеты.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Дизайн и вес: </a:t>
            </a:r>
            <a:r>
              <a:rPr sz="1400">
                <a:solidFill>
                  <a:srgbClr val="57534E"/>
                </a:solidFill>
                <a:latin typeface="Inter"/>
              </a:rPr>
              <a:t>Прозрачное окно 72,7% + дата 61,7%; вес 151–250 г в РФ и 251–500 г в РБ (page=36).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Natura (Clean &amp; Protein)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Суббренд (6,6 в РФ): </a:t>
            </a:r>
            <a:r>
              <a:rPr sz="1400">
                <a:solidFill>
                  <a:srgbClr val="57534E"/>
                </a:solidFill>
                <a:latin typeface="Inter"/>
              </a:rPr>
              <a:t>Атрибуты (page=60): натуральный (15,1%), современный (14,9%), качественный (9,0%).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Снятие латиницы: </a:t>
            </a:r>
            <a:r>
              <a:rPr sz="1400">
                <a:solidFill>
                  <a:srgbClr val="57534E"/>
                </a:solidFill>
                <a:latin typeface="Inter"/>
              </a:rPr>
              <a:t>Кириллический дескриптор убирает 12% негатива к латинице и 5% путаницы с сыром.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Ядро SKU: </a:t>
            </a:r>
            <a:r>
              <a:rPr sz="1400">
                <a:solidFill>
                  <a:srgbClr val="57534E"/>
                </a:solidFill>
                <a:latin typeface="Inter"/>
              </a:rPr>
              <a:t>Нарезка 81–150 г и 151–250 г с Easy-Peel, наборы-ассорти (15%) и начинки (13%).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Гостинец и Инко-Фуд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Беловежский гостинец: </a:t>
            </a:r>
            <a:r>
              <a:rPr sz="1400">
                <a:solidFill>
                  <a:srgbClr val="57534E"/>
                </a:solidFill>
                <a:latin typeface="Inter"/>
              </a:rPr>
              <a:t>Подарочная линия под БТ: оценка 7,0 в РБ (11% низких), в РФ (6,3) — после теста.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Инко-Фуд (6,5% в РБ): </a:t>
            </a:r>
            <a:r>
              <a:rPr sz="1400">
                <a:solidFill>
                  <a:srgbClr val="57534E"/>
                </a:solidFill>
                <a:latin typeface="Inter"/>
              </a:rPr>
              <a:t>Штамп завода на пачках закрывает 46,2% запроса на производителя (page=34-35).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Премиальные СТМ: </a:t>
            </a:r>
            <a:r>
              <a:rPr sz="1400">
                <a:solidFill>
                  <a:srgbClr val="57534E"/>
                </a:solidFill>
                <a:latin typeface="Inter"/>
              </a:rPr>
              <a:t>Контрактный выпуск упакованных колбас под СТМ сетей РФ (доля СТМ Food 15,3%).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9  |  </a:t>
            </a:r>
            <a:r>
              <a:rPr sz="1400" b="1">
                <a:solidFill>
                  <a:srgbClr val="B91C1C"/>
                </a:solidFill>
                <a:latin typeface="Inter"/>
                <a:hlinkClick r:id="rId2"/>
              </a:rPr>
              <a:t>deck=inkofood-2026, page=34-36, 41-43, 49-63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9. ПРОДУКТОВАЯ МАТРИЦА И СТАНДАРТ УПАКОВКИ (R-02..R-06)</a:t>
            </a:r>
          </a:p>
          <a:p>
            <a:pPr algn="l"/>
            <a:r>
              <a:rPr sz="2400" b="1">
                <a:solidFill>
                  <a:srgbClr val="1C1917"/>
                </a:solidFill>
                <a:latin typeface="Inter"/>
              </a:rPr>
              <a:t>Решения R-02..R-06: окно, натуральный цвет и шаблон белка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R-02. Стандарт упаковки (page=34-35): </a:t>
            </a:r>
            <a:r>
              <a:rPr sz="1500">
                <a:solidFill>
                  <a:srgbClr val="57534E"/>
                </a:solidFill>
                <a:latin typeface="Inter"/>
              </a:rPr>
              <a:t>Прозрачное окно (72,7% РФ / 74,2% РБ), крупная дата на фронте (61,7% / 59,4%), завод (46,2%) и минимум рекламного шума.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R-04. Натуральный цвет вместо без нитрита: </a:t>
            </a:r>
            <a:r>
              <a:rPr sz="1500">
                <a:solidFill>
                  <a:srgbClr val="57534E"/>
                </a:solidFill>
                <a:latin typeface="Inter"/>
              </a:rPr>
              <a:t>Свекольный сок и чёрный чеснок (65,0% РФ / 76,1% РБ видят пользу) вместо «без нитрита» (60,7% РФ считают маркетингом, page=42).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R-05. Шаблон белка с заполнителями: </a:t>
            </a:r>
            <a:r>
              <a:rPr sz="1500">
                <a:solidFill>
                  <a:srgbClr val="57534E"/>
                </a:solidFill>
                <a:latin typeface="Inter"/>
              </a:rPr>
              <a:t>Формула «X г белка на 100 г • мяса Y% • без соевого белка» снимает 21% скепсиса и 8% страха сои (page=31, 44).</a:t>
            </a:r>
          </a:p>
          <a:p>
            <a:pPr algn="l" marL="201168" indent="-201168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1C1917"/>
                </a:solidFill>
                <a:latin typeface="Inter"/>
              </a:rPr>
              <a:t>R-06. Easy-Peel и повторное закрытие: </a:t>
            </a:r>
            <a:r>
              <a:rPr sz="1500">
                <a:solidFill>
                  <a:srgbClr val="57534E"/>
                </a:solidFill>
                <a:latin typeface="Inter"/>
              </a:rPr>
              <a:t>Устраняет две главные боли нарезки: сложно открыть (≈34%) и нельзя закрыть (≈28%, page=23); одобряют 64,2% РФ / 71,6% РБ.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10  |  </a:t>
            </a:r>
            <a:r>
              <a:rPr sz="1400" b="1">
                <a:solidFill>
                  <a:srgbClr val="B91C1C"/>
                </a:solidFill>
                <a:latin typeface="Inter"/>
                <a:hlinkClick r:id="rId3"/>
              </a:rPr>
              <a:t>deck=inkofood-2026, page=23, 31, 34-35, 42,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Inter"/>
              </a:rPr>
              <a:t>10. ПРОДВИЖЕНИЕ И ПОЛЕВЫЕ ПРОВЕРКИ НА 2026–2027 ГОДЫ</a:t>
            </a:r>
          </a:p>
          <a:p>
            <a:pPr algn="l"/>
            <a:r>
              <a:rPr sz="2600" b="1">
                <a:solidFill>
                  <a:srgbClr val="1C1917"/>
                </a:solidFill>
                <a:latin typeface="Inter"/>
              </a:rPr>
              <a:t>Решения R-01, R-07..R-10: полка, E-com (+35%), ИИ-поиск и тесты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R-01, R-03. Полка и ГОСТ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Сначала полка (p=51): </a:t>
            </a:r>
            <a:r>
              <a:rPr sz="1400">
                <a:solidFill>
                  <a:srgbClr val="57534E"/>
                </a:solidFill>
                <a:latin typeface="Inter"/>
              </a:rPr>
              <a:t>Барьер — незнание (24,5/32,9%) и полка (17,5/15,8%), не цена (4,9%).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Промо в РФ (p=8, 20): </a:t>
            </a:r>
            <a:r>
              <a:rPr sz="1400">
                <a:solidFill>
                  <a:srgbClr val="57534E"/>
                </a:solidFill>
                <a:latin typeface="Inter"/>
              </a:rPr>
              <a:t>39,0% в РФ берут по акции; ~22% покупок нарезки — импульсные.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Премия ГОСТ &lt;=10%: </a:t>
            </a:r>
            <a:r>
              <a:rPr sz="1400">
                <a:solidFill>
                  <a:srgbClr val="57534E"/>
                </a:solidFill>
                <a:latin typeface="Inter"/>
              </a:rPr>
              <a:t>Наценка премиум-варёнки до 10% (35,5% РФ / 40,9% РБ, page=43).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R-07, R-08. E-Com и ИИ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Рост E-Com (+35%): </a:t>
            </a:r>
            <a:r>
              <a:rPr sz="1400">
                <a:solidFill>
                  <a:srgbClr val="57534E"/>
                </a:solidFill>
                <a:latin typeface="Inter"/>
              </a:rPr>
              <a:t>Онлайн FMCG растёт на +35,0% в деньгах и +37,6% в уп. (page=5, 11).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СТМ в Food (15,3%): </a:t>
            </a:r>
            <a:r>
              <a:rPr sz="1400">
                <a:solidFill>
                  <a:srgbClr val="57534E"/>
                </a:solidFill>
                <a:latin typeface="Inter"/>
              </a:rPr>
              <a:t>Упакованные колбасы — лидер вклада в рост СТМ (page=8-9).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ИИ-поиск (23%, p=7): </a:t>
            </a:r>
            <a:r>
              <a:rPr sz="1400">
                <a:solidFill>
                  <a:srgbClr val="57534E"/>
                </a:solidFill>
                <a:latin typeface="Inter"/>
              </a:rPr>
              <a:t>Разметка состава и тегов (23% ищут с ИИ, 73% — AI в быту, p=9).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16052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758183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91C1C"/>
                </a:solidFill>
                <a:latin typeface="Inter"/>
              </a:rPr>
              <a:t>R-10a, R-10b. Проверки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Добор 55+ (p=66): </a:t>
            </a:r>
            <a:r>
              <a:rPr sz="1400">
                <a:solidFill>
                  <a:srgbClr val="57534E"/>
                </a:solidFill>
                <a:latin typeface="Inter"/>
              </a:rPr>
              <a:t>Расширить квоту 55+ с 10,2% с учётом 36% в панели РОМИР (p=4).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Сегменты 55–75 (p=5): </a:t>
            </a:r>
            <a:r>
              <a:rPr sz="1400">
                <a:solidFill>
                  <a:srgbClr val="57534E"/>
                </a:solidFill>
                <a:latin typeface="Inter"/>
              </a:rPr>
              <a:t>Опора на 44% активных: Обеспеченные (23%) и Свободные (21%).</a:t>
            </a:r>
          </a:p>
          <a:p>
            <a:pPr algn="l" marL="201168" indent="-201168">
              <a:spcAft>
                <a:spcPts val="600"/>
              </a:spcAft>
              <a:buFont typeface="Inter"/>
              <a:buChar char="•"/>
            </a:pPr>
            <a:r>
              <a:rPr sz="1500" b="1">
                <a:solidFill>
                  <a:srgbClr val="1C1917"/>
                </a:solidFill>
                <a:latin typeface="Inter"/>
              </a:rPr>
              <a:t>Тест вкуса (p=46): </a:t>
            </a:r>
            <a:r>
              <a:rPr sz="1400">
                <a:solidFill>
                  <a:srgbClr val="57534E"/>
                </a:solidFill>
                <a:latin typeface="Inter"/>
              </a:rPr>
              <a:t>Проверить вслепую готовность 71,8% РФ уступить во вкусе.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57534E"/>
                </a:solidFill>
                <a:latin typeface="Inter"/>
              </a:rPr>
              <a:t>Слайд 11  |  </a:t>
            </a:r>
            <a:r>
              <a:rPr sz="1400" b="1">
                <a:solidFill>
                  <a:srgbClr val="B91C1C"/>
                </a:solidFill>
                <a:latin typeface="Inter"/>
                <a:hlinkClick r:id="rId2"/>
              </a:rPr>
              <a:t>AGENT-REVIEW.md: Решения R-01..R-10b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3600" b="1">
                <a:solidFill>
                  <a:srgbClr val="F8FAFC"/>
                </a:solidFill>
                <a:latin typeface="Inter"/>
              </a:rPr>
              <a:t>Полка, прозрачная упаковка и верифицированный ГОСТ — фундамент роста Инкофуд.</a:t>
            </a:r>
          </a:p>
          <a:p>
            <a:r>
              <a:rPr sz="2000">
                <a:solidFill>
                  <a:srgbClr val="FBBF24"/>
                </a:solidFill>
                <a:latin typeface="Inter"/>
              </a:rPr>
              <a:t>Спасибо за внимание  |  Итерация 2 (выверено по AGENT-REVIEW.md)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Inter"/>
              </a:rPr>
              <a:t>База исследований: github.com/Osmosy/Consumer-research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1C1C"/>
      </a:hlink>
      <a:folHlink>
        <a:srgbClr val="800080"/>
      </a:folHlink>
    </a:clrScheme>
    <a:fontScheme name="Office">
      <a:majorFont>
        <a:latin typeface="Inter"/>
        <a:ea typeface="Inter"/>
        <a:cs typeface="Inter"/>
        <a:font script="Jpan" typeface="Inter"/>
        <a:font script="Hang" typeface="Inter"/>
        <a:font script="Hans" typeface="Inter"/>
        <a:font script="Hant" typeface="Inter"/>
        <a:font script="Arab" typeface="Inter"/>
        <a:font script="Hebr" typeface="Inter"/>
        <a:font script="Thai" typeface="Inter"/>
        <a:font script="Ethi" typeface="Inter"/>
        <a:font script="Beng" typeface="Inter"/>
        <a:font script="Gujr" typeface="Inter"/>
        <a:font script="Khmr" typeface="Inter"/>
        <a:font script="Knda" typeface="Inter"/>
        <a:font script="Guru" typeface="Inter"/>
        <a:font script="Cans" typeface="Inter"/>
        <a:font script="Cher" typeface="Inter"/>
        <a:font script="Yiii" typeface="Inter"/>
        <a:font script="Tibt" typeface="Inter"/>
        <a:font script="Thaa" typeface="Inter"/>
        <a:font script="Deva" typeface="Inter"/>
        <a:font script="Telu" typeface="Inter"/>
        <a:font script="Taml" typeface="Inter"/>
        <a:font script="Syrc" typeface="Inter"/>
        <a:font script="Orya" typeface="Inter"/>
        <a:font script="Mlym" typeface="Inter"/>
        <a:font script="Laoo" typeface="Inter"/>
        <a:font script="Sinh" typeface="Inter"/>
        <a:font script="Mong" typeface="Inter"/>
        <a:font script="Viet" typeface="Inter"/>
        <a:font script="Uigh" typeface="Inter"/>
        <a:font script="Geor" typeface="Inter"/>
      </a:majorFont>
      <a:minorFont>
        <a:latin typeface="Inter"/>
        <a:ea typeface="Inter"/>
        <a:cs typeface="Inter"/>
        <a:font script="Jpan" typeface="Inter"/>
        <a:font script="Hang" typeface="Inter"/>
        <a:font script="Hans" typeface="Inter"/>
        <a:font script="Hant" typeface="Inter"/>
        <a:font script="Arab" typeface="Inter"/>
        <a:font script="Hebr" typeface="Inter"/>
        <a:font script="Thai" typeface="Inter"/>
        <a:font script="Ethi" typeface="Inter"/>
        <a:font script="Beng" typeface="Inter"/>
        <a:font script="Gujr" typeface="Inter"/>
        <a:font script="Khmr" typeface="Inter"/>
        <a:font script="Knda" typeface="Inter"/>
        <a:font script="Guru" typeface="Inter"/>
        <a:font script="Cans" typeface="Inter"/>
        <a:font script="Cher" typeface="Inter"/>
        <a:font script="Yiii" typeface="Inter"/>
        <a:font script="Tibt" typeface="Inter"/>
        <a:font script="Thaa" typeface="Inter"/>
        <a:font script="Deva" typeface="Inter"/>
        <a:font script="Telu" typeface="Inter"/>
        <a:font script="Taml" typeface="Inter"/>
        <a:font script="Syrc" typeface="Inter"/>
        <a:font script="Orya" typeface="Inter"/>
        <a:font script="Mlym" typeface="Inter"/>
        <a:font script="Laoo" typeface="Inter"/>
        <a:font script="Sinh" typeface="Inter"/>
        <a:font script="Mong" typeface="Inter"/>
        <a:font script="Viet" typeface="Inter"/>
        <a:font script="Uigh" typeface="Inter"/>
        <a:font script="Geor"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