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ложка" id="{279fb94d-518e-93e5-7298-5cb044617443}">
          <p14:sldIdLst>
            <p14:sldId id="256"/>
          </p14:sldIdLst>
        </p14:section>
        <p14:section name="Главное" id="{4f9fbeeb-d137-bb5a-b44f-3bc31706b54e}">
          <p14:sldIdLst>
            <p14:sldId id="257"/>
          </p14:sldIdLst>
        </p14:section>
        <p14:section name="Часть 1. Инкофуд: исследование потребителя" id="{452ff295-0aff-3878-6b8d-a94375e824e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Часть 2. Сопоставление с другими исследованиями" id="{45f201d8-f289-0925-2f84-f37af8e33b9d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Часть 3. Предложения по брендам и продвижению" id="{3c3df43f-d700-4f04-56fe-47942f95ef4d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+mn-lt"/>
              </a:rPr>
              <a:t>Драйверы покупки, % респондентов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РФ</c:v>
                </c:pt>
              </c:strCache>
            </c:strRef>
          </c:tx>
          <c:spPr>
            <a:solidFill>
              <a:srgbClr val="8C22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Завтрак, бутерброды</c:v>
                  </c:pt>
                  <c:pt idx="1">
                    <c:v>Быстрый перекус</c:v>
                  </c:pt>
                  <c:pt idx="2">
                    <c:v>Нравится вкус</c:v>
                  </c:pt>
                  <c:pt idx="3">
                    <c:v>Привычная часть рациона</c:v>
                  </c:pt>
                  <c:pt idx="4">
                    <c:v>Удобно брать с собой</c:v>
                  </c:pt>
                  <c:pt idx="5">
                    <c:v>Сытно</c:v>
                  </c:pt>
                  <c:pt idx="6">
                    <c:v>Доступная цена</c:v>
                  </c:pt>
                  <c:pt idx="7">
                    <c:v>Источник белка</c:v>
                  </c:pt>
                  <c:pt idx="8">
                    <c:v>Полезный продукт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62.3</c:v>
                </c:pt>
                <c:pt idx="1">
                  <c:v>58</c:v>
                </c:pt>
                <c:pt idx="2">
                  <c:v>46.5</c:v>
                </c:pt>
                <c:pt idx="3">
                  <c:v>39.8</c:v>
                </c:pt>
                <c:pt idx="4">
                  <c:v>36</c:v>
                </c:pt>
                <c:pt idx="5">
                  <c:v>35</c:v>
                </c:pt>
                <c:pt idx="6">
                  <c:v>24.7</c:v>
                </c:pt>
                <c:pt idx="7">
                  <c:v>16.3</c:v>
                </c:pt>
                <c:pt idx="8">
                  <c:v>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РБ</c:v>
                </c:pt>
              </c:strCache>
            </c:strRef>
          </c:tx>
          <c:spPr>
            <a:solidFill>
              <a:srgbClr val="2F6B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Завтрак, бутерброды</c:v>
                  </c:pt>
                  <c:pt idx="1">
                    <c:v>Быстрый перекус</c:v>
                  </c:pt>
                  <c:pt idx="2">
                    <c:v>Нравится вкус</c:v>
                  </c:pt>
                  <c:pt idx="3">
                    <c:v>Привычная часть рациона</c:v>
                  </c:pt>
                  <c:pt idx="4">
                    <c:v>Удобно брать с собой</c:v>
                  </c:pt>
                  <c:pt idx="5">
                    <c:v>Сытно</c:v>
                  </c:pt>
                  <c:pt idx="6">
                    <c:v>Доступная цена</c:v>
                  </c:pt>
                  <c:pt idx="7">
                    <c:v>Источник белка</c:v>
                  </c:pt>
                  <c:pt idx="8">
                    <c:v>Полезный продукт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53.5</c:v>
                </c:pt>
                <c:pt idx="1">
                  <c:v>54.8</c:v>
                </c:pt>
                <c:pt idx="2">
                  <c:v>31</c:v>
                </c:pt>
                <c:pt idx="3">
                  <c:v>27.1</c:v>
                </c:pt>
                <c:pt idx="4">
                  <c:v>34.2</c:v>
                </c:pt>
                <c:pt idx="5">
                  <c:v>11.6</c:v>
                </c:pt>
                <c:pt idx="6">
                  <c:v>24.5</c:v>
                </c:pt>
                <c:pt idx="7">
                  <c:v>6.5</c:v>
                </c:pt>
                <c:pt idx="8">
                  <c:v>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444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+mn-lt"/>
              </a:rPr>
              <a:t>Факторы выбора,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РФ</c:v>
                </c:pt>
              </c:strCache>
            </c:strRef>
          </c:tx>
          <c:spPr>
            <a:solidFill>
              <a:srgbClr val="8C22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Вкус</c:v>
                  </c:pt>
                  <c:pt idx="1">
                    <c:v>Качество</c:v>
                  </c:pt>
                  <c:pt idx="2">
                    <c:v>Цена</c:v>
                  </c:pt>
                  <c:pt idx="3">
                    <c:v>Срок годности</c:v>
                  </c:pt>
                  <c:pt idx="4">
                    <c:v>Понятный состав</c:v>
                  </c:pt>
                  <c:pt idx="5">
                    <c:v>Содержание мяса</c:v>
                  </c:pt>
                  <c:pt idx="6">
                    <c:v>Доверие к производителю</c:v>
                  </c:pt>
                  <c:pt idx="7">
                    <c:v>Акции и скидки</c:v>
                  </c:pt>
                  <c:pt idx="8">
                    <c:v>Известность бренда</c:v>
                  </c:pt>
                  <c:pt idx="9">
                    <c:v>Страна происхождения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</c:v>
                </c:pt>
                <c:pt idx="1">
                  <c:v>65.3</c:v>
                </c:pt>
                <c:pt idx="2">
                  <c:v>60.2</c:v>
                </c:pt>
                <c:pt idx="3">
                  <c:v>53.3</c:v>
                </c:pt>
                <c:pt idx="4">
                  <c:v>53.2</c:v>
                </c:pt>
                <c:pt idx="5">
                  <c:v>51.7</c:v>
                </c:pt>
                <c:pt idx="6">
                  <c:v>39</c:v>
                </c:pt>
                <c:pt idx="7">
                  <c:v>39</c:v>
                </c:pt>
                <c:pt idx="8">
                  <c:v>25.5</c:v>
                </c:pt>
                <c:pt idx="9">
                  <c:v>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РБ</c:v>
                </c:pt>
              </c:strCache>
            </c:strRef>
          </c:tx>
          <c:spPr>
            <a:solidFill>
              <a:srgbClr val="2F6B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Вкус</c:v>
                  </c:pt>
                  <c:pt idx="1">
                    <c:v>Качество</c:v>
                  </c:pt>
                  <c:pt idx="2">
                    <c:v>Цена</c:v>
                  </c:pt>
                  <c:pt idx="3">
                    <c:v>Срок годности</c:v>
                  </c:pt>
                  <c:pt idx="4">
                    <c:v>Понятный состав</c:v>
                  </c:pt>
                  <c:pt idx="5">
                    <c:v>Содержание мяса</c:v>
                  </c:pt>
                  <c:pt idx="6">
                    <c:v>Доверие к производителю</c:v>
                  </c:pt>
                  <c:pt idx="7">
                    <c:v>Акции и скидки</c:v>
                  </c:pt>
                  <c:pt idx="8">
                    <c:v>Известность бренда</c:v>
                  </c:pt>
                  <c:pt idx="9">
                    <c:v>Страна происхождения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57.4</c:v>
                </c:pt>
                <c:pt idx="1">
                  <c:v>61.9</c:v>
                </c:pt>
                <c:pt idx="2">
                  <c:v>51.6</c:v>
                </c:pt>
                <c:pt idx="3">
                  <c:v>53.5</c:v>
                </c:pt>
                <c:pt idx="4">
                  <c:v>47.7</c:v>
                </c:pt>
                <c:pt idx="5">
                  <c:v>46.5</c:v>
                </c:pt>
                <c:pt idx="6">
                  <c:v>29</c:v>
                </c:pt>
                <c:pt idx="7">
                  <c:v>17.4</c:v>
                </c:pt>
                <c:pt idx="8">
                  <c:v>9.7</c:v>
                </c:pt>
                <c:pt idx="9">
                  <c:v>20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444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+mn-lt"/>
              </a:rPr>
              <a:t>Барьеры покупки,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РФ</c:v>
                </c:pt>
              </c:strCache>
            </c:strRef>
          </c:tx>
          <c:spPr>
            <a:solidFill>
              <a:srgbClr val="8C22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Несвежий продукт</c:v>
                  </c:pt>
                  <c:pt idx="1">
                    <c:v>Сомнения в качестве</c:v>
                  </c:pt>
                  <c:pt idx="2">
                    <c:v>Внешний вид</c:v>
                  </c:pt>
                  <c:pt idx="3">
                    <c:v>Состав, добавки</c:v>
                  </c:pt>
                  <c:pt idx="4">
                    <c:v>Цена</c:v>
                  </c:pt>
                  <c:pt idx="5">
                    <c:v>Незнакомый бренд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67.8</c:v>
                </c:pt>
                <c:pt idx="1">
                  <c:v>67.5</c:v>
                </c:pt>
                <c:pt idx="2">
                  <c:v>56.8</c:v>
                </c:pt>
                <c:pt idx="3">
                  <c:v>55</c:v>
                </c:pt>
                <c:pt idx="4">
                  <c:v>53.2</c:v>
                </c:pt>
                <c:pt idx="5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РБ</c:v>
                </c:pt>
              </c:strCache>
            </c:strRef>
          </c:tx>
          <c:spPr>
            <a:solidFill>
              <a:srgbClr val="2F6B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Несвежий продукт</c:v>
                  </c:pt>
                  <c:pt idx="1">
                    <c:v>Сомнения в качестве</c:v>
                  </c:pt>
                  <c:pt idx="2">
                    <c:v>Внешний вид</c:v>
                  </c:pt>
                  <c:pt idx="3">
                    <c:v>Состав, добавки</c:v>
                  </c:pt>
                  <c:pt idx="4">
                    <c:v>Цена</c:v>
                  </c:pt>
                  <c:pt idx="5">
                    <c:v>Незнакомый бренд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66.5</c:v>
                </c:pt>
                <c:pt idx="1">
                  <c:v>60</c:v>
                </c:pt>
                <c:pt idx="2">
                  <c:v>50.3</c:v>
                </c:pt>
                <c:pt idx="3">
                  <c:v>51.6</c:v>
                </c:pt>
                <c:pt idx="4">
                  <c:v>37.4</c:v>
                </c:pt>
                <c:pt idx="5">
                  <c:v>16.8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444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+mn-lt"/>
              </a:rPr>
              <a:t>Знание с подсказкой и покупка,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Знаю</c:v>
                </c:pt>
              </c:strCache>
            </c:strRef>
          </c:tx>
          <c:spPr>
            <a:solidFill>
              <a:srgbClr val="5E6B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Брестский м/к (РБ)</c:v>
                  </c:pt>
                  <c:pt idx="1">
                    <c:v>Гродненский м/к (РБ)</c:v>
                  </c:pt>
                  <c:pt idx="2">
                    <c:v>Белорусская традиция (РБ)</c:v>
                  </c:pt>
                  <c:pt idx="3">
                    <c:v>Natura (РБ)</c:v>
                  </c:pt>
                  <c:pt idx="4">
                    <c:v>Черкизово (РФ)</c:v>
                  </c:pt>
                  <c:pt idx="5">
                    <c:v>Вязанка (РФ)</c:v>
                  </c:pt>
                  <c:pt idx="6">
                    <c:v>Белорусская традиция (РФ)</c:v>
                  </c:pt>
                  <c:pt idx="7">
                    <c:v>Natura (РФ)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89</c:v>
                </c:pt>
                <c:pt idx="1">
                  <c:v>69.7</c:v>
                </c:pt>
                <c:pt idx="2">
                  <c:v>28.4</c:v>
                </c:pt>
                <c:pt idx="3">
                  <c:v>16.8</c:v>
                </c:pt>
                <c:pt idx="4">
                  <c:v>82.3</c:v>
                </c:pt>
                <c:pt idx="5">
                  <c:v>79.8</c:v>
                </c:pt>
                <c:pt idx="6">
                  <c:v>13.3</c:v>
                </c:pt>
                <c:pt idx="7">
                  <c:v>12.3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Покупаю</c:v>
                </c:pt>
              </c:strCache>
            </c:strRef>
          </c:tx>
          <c:spPr>
            <a:solidFill>
              <a:srgbClr val="8C22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Брестский м/к (РБ)</c:v>
                  </c:pt>
                  <c:pt idx="1">
                    <c:v>Гродненский м/к (РБ)</c:v>
                  </c:pt>
                  <c:pt idx="2">
                    <c:v>Белорусская традиция (РБ)</c:v>
                  </c:pt>
                  <c:pt idx="3">
                    <c:v>Natura (РБ)</c:v>
                  </c:pt>
                  <c:pt idx="4">
                    <c:v>Черкизово (РФ)</c:v>
                  </c:pt>
                  <c:pt idx="5">
                    <c:v>Вязанка (РФ)</c:v>
                  </c:pt>
                  <c:pt idx="6">
                    <c:v>Белорусская традиция (РФ)</c:v>
                  </c:pt>
                  <c:pt idx="7">
                    <c:v>Natura (РФ)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66.5</c:v>
                </c:pt>
                <c:pt idx="1">
                  <c:v>38.1</c:v>
                </c:pt>
                <c:pt idx="2">
                  <c:v>7.7</c:v>
                </c:pt>
                <c:pt idx="3">
                  <c:v>5.8</c:v>
                </c:pt>
                <c:pt idx="4">
                  <c:v>38.5</c:v>
                </c:pt>
                <c:pt idx="5">
                  <c:v>34.3</c:v>
                </c:pt>
                <c:pt idx="6">
                  <c:v>2.7</c:v>
                </c:pt>
                <c:pt idx="7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444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3333"/>
                </a:solidFill>
                <a:latin typeface="+mn-lt"/>
              </a:rPr>
              <a:t>Динамика продаж,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Рост продаж, %</c:v>
                </c:pt>
              </c:strCache>
            </c:strRef>
          </c:tx>
          <c:spPr>
            <a:solidFill>
              <a:srgbClr val="8C22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Онлайн-рынок</c:v>
                  </c:pt>
                  <c:pt idx="1">
                    <c:v>Хард-дискаунтеры</c:v>
                  </c:pt>
                  <c:pt idx="2">
                    <c:v>Весь FMCG</c:v>
                  </c:pt>
                  <c:pt idx="3">
                    <c:v>Софт-дискаунтеры</c:v>
                  </c:pt>
                  <c:pt idx="4">
                    <c:v>Мясо и продукты из мяса</c:v>
                  </c:pt>
                  <c:pt idx="5">
                    <c:v>Супермаркеты</c:v>
                  </c:pt>
                  <c:pt idx="6">
                    <c:v>Гипермаркеты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21.9</c:v>
                </c:pt>
                <c:pt idx="2">
                  <c:v>10.6</c:v>
                </c:pt>
                <c:pt idx="3">
                  <c:v>8.4</c:v>
                </c:pt>
                <c:pt idx="4">
                  <c:v>7.7</c:v>
                </c:pt>
                <c:pt idx="5">
                  <c:v>2.5</c:v>
                </c:pt>
                <c:pt idx="6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444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Мясная гастрономия: что говорит потребитель и что делать брендам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Выводы по исследованию Инкофуд (U&amp;A, октябрь 2026), сверка с Нильсен, РОМИР, СберМаркетинг и ЭКОПСИ, противоречия и предложения по «Белорусской традиции», Natura и «Беловежскому гостинцу»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Источник данных: github.com/Osmosy/consumer-research · октябрь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на одном слайде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Категория держится на привычке и доверии к свежести; бренды Инкофуда проигрывают не продуктом, а известностью и наличием на полке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сводка по 7 колодам репозитория; ссылки на слайды — в приложении</a:t>
            </a:r>
            <a:endParaRPr lang="en-US" sz="1000" dirty="0"/>
          </a:p>
        </p:txBody>
      </p:sp>
      <p:sp>
        <p:nvSpPr>
          <p:cNvPr id="5" name="num 1"/>
          <p:cNvSpPr/>
          <p:nvPr/>
        </p:nvSpPr>
        <p:spPr>
          <a:xfrm>
            <a:off x="548640" y="16733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Повседневная семейная категория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77–78% покупают на всю семью; 66% в РФ и 77% в РБ едят 2–3 раза в неделю и чаще. Сценарии: завтрак (РФ), перекус вне дома (РБ), «время для себя».</a:t>
            </a:r>
            <a:endParaRPr lang="en-US" sz="1600" dirty="0"/>
          </a:p>
        </p:txBody>
      </p:sp>
      <p:sp>
        <p:nvSpPr>
          <p:cNvPr id="8" name="num 2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3288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Решает свежесть и состав, не бренд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Вкус, качество, цена, срок годности, состав. Главный барьер — сомнение в свежести, абсолютный триггер — запах (64–65%).</a:t>
            </a:r>
            <a:endParaRPr lang="en-US" sz="1600" dirty="0"/>
          </a:p>
        </p:txBody>
      </p:sp>
      <p:sp>
        <p:nvSpPr>
          <p:cNvPr id="11" name="num 3"/>
          <p:cNvSpPr/>
          <p:nvPr/>
        </p:nvSpPr>
        <p:spPr>
          <a:xfrm>
            <a:off x="548640" y="35387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6557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Бренды Инкофуда — слабое знание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Знание с подсказкой: «Белорусская традиция» 28% в РБ / 13% в РФ, Natura 17% / 12%. Причины непокупки — «не знаю бренд» и «нет в магазине».</a:t>
            </a:r>
            <a:endParaRPr lang="en-US" sz="1600" dirty="0"/>
          </a:p>
        </p:txBody>
      </p:sp>
      <p:sp>
        <p:nvSpPr>
          <p:cNvPr id="14" name="num 4"/>
          <p:cNvSpPr/>
          <p:nvPr/>
        </p:nvSpPr>
        <p:spPr>
          <a:xfrm>
            <a:off x="548640" y="447141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471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9826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Рынок — за рациональность и доказательства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Рост онлайна (+35%) и хард-дискаунтеров (+22%), упакованные колбасы — №1 по вкладу в рост СТМ; уверенность потребителей падает (ИПУ −9).</a:t>
            </a:r>
            <a:endParaRPr lang="en-US" sz="1600" dirty="0"/>
          </a:p>
        </p:txBody>
      </p:sp>
      <p:sp>
        <p:nvSpPr>
          <p:cNvPr id="17" name="num 5"/>
          <p:cNvSpPr/>
          <p:nvPr/>
        </p:nvSpPr>
        <p:spPr>
          <a:xfrm>
            <a:off x="548640" y="540410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04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33095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Что делать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Развести роли брендов, сначала обеспечить наличие на полке, потом рекламу. Обещания — только с цифрами. «Гостинец» — подарочная линия, а не третий бренд.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1. Инкофуд: исследование потребителя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Мясная гастрономия, U&amp;A · 900 респондентов · Россия и Беларусь · октябрь 2026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Кого и как спросили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Онлайн-опрос в двух странах; выборка смещена к работающим женщинам 35–55 с доходом выше среднего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2, 65–68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респондентов: 600 в РФ (Москва, СПб, Екатеринбург) и 300 в РБ (Минск, Брест, Гомель)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женщины; 52% с детьми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старше 55 лет (столбец подписан «Untitled 1»); пенсионеров 2,8%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468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без труда покупают технику и мебель — доход выше среднего</a:t>
            </a:r>
            <a:endParaRPr lang="en-US" sz="1300" dirty="0"/>
          </a:p>
        </p:txBody>
      </p:sp>
      <p:sp>
        <p:nvSpPr>
          <p:cNvPr id="13" name="card Что исследовали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50208"/>
            <a:ext cx="5120640" cy="2066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Что исследовали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Частоту, сценарии, мотивы и барьеры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Нарезку, сервелат, высокий белок, упаковку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Премиальную варёную колбасу, новинки, ГОСТ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Знание и восприятие брендов, тест трёх неймов</a:t>
            </a:r>
            <a:endParaRPr lang="en-US" sz="1600" dirty="0"/>
          </a:p>
        </p:txBody>
      </p:sp>
      <p:sp>
        <p:nvSpPr>
          <p:cNvPr id="15" name="card Ограничения данных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950208"/>
            <a:ext cx="5120640" cy="2066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Ограничения данных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Слабо представлена аудитория 55+: в РФ это 36% населения (РОМИР)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Сл. 45 дублирует 44, сл. 17 дублирует РФ-часть 46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 слайдов с растровыми диаграммами прочитаны по картинке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Часть авторских комментариев в исходнике обрезана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Повседневная категория: завтрак, перекус, «для себя»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Покупают ради удобства и привычки; польза и белок почти не мотивируют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4, 6, 9–12</a:t>
            </a:r>
            <a:endParaRPr lang="en-US" sz="1000" dirty="0"/>
          </a:p>
        </p:txBody>
      </p:sp>
      <p:graphicFrame>
        <p:nvGraphicFramePr>
          <p:cNvPr id="5" name="drivers chart" descr=""/>
          <p:cNvGraphicFramePr/>
          <p:nvPr/>
        </p:nvGraphicFramePr>
        <p:xfrm>
          <a:off x="457200" y="150876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 Частота"/>
          <p:cNvSpPr/>
          <p:nvPr/>
        </p:nvSpPr>
        <p:spPr>
          <a:xfrm>
            <a:off x="7315200" y="1600200"/>
            <a:ext cx="4297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52360" y="1709928"/>
            <a:ext cx="4023360" cy="1197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Частота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Едят 2–3 раза в неделю и чаще: 66% в РФ и 77% в РБ; ежедневно — 16% и 21%</a:t>
            </a:r>
            <a:endParaRPr lang="en-US" sz="1600" dirty="0"/>
          </a:p>
        </p:txBody>
      </p:sp>
      <p:sp>
        <p:nvSpPr>
          <p:cNvPr id="8" name="card Разница стран"/>
          <p:cNvSpPr/>
          <p:nvPr/>
        </p:nvSpPr>
        <p:spPr>
          <a:xfrm>
            <a:off x="7315200" y="3154680"/>
            <a:ext cx="4297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3264408"/>
            <a:ext cx="4023360" cy="1197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Разница стран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РФ — завтрак (60% против 41%). РБ — перекус в дороге и на работе</a:t>
            </a:r>
            <a:endParaRPr lang="en-US" sz="1600" dirty="0"/>
          </a:p>
        </p:txBody>
      </p:sp>
      <p:sp>
        <p:nvSpPr>
          <p:cNvPr id="10" name="card Скрытый сценарий"/>
          <p:cNvSpPr/>
          <p:nvPr/>
        </p:nvSpPr>
        <p:spPr>
          <a:xfrm>
            <a:off x="7315200" y="4709160"/>
            <a:ext cx="4297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52360" y="4818888"/>
            <a:ext cx="4023360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Скрытый сценарий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«Наедине с собой»: бутерброд, чай, сериал вечером — 13–16% идеальных ситуаций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Выбирают по свежести, отказываются из-за запаха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Бренд и упаковка в списке факторов внизу, но незнакомый бренд отталкивает каждого пятого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8, 13–15</a:t>
            </a:r>
            <a:endParaRPr lang="en-US" sz="1000" dirty="0"/>
          </a:p>
        </p:txBody>
      </p:sp>
      <p:graphicFrame>
        <p:nvGraphicFramePr>
          <p:cNvPr id="5" name="factors chart" descr=""/>
          <p:cNvGraphicFramePr/>
          <p:nvPr/>
        </p:nvGraphicFramePr>
        <p:xfrm>
          <a:off x="457200" y="150876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barriers chart" descr=""/>
          <p:cNvGraphicFramePr/>
          <p:nvPr/>
        </p:nvGraphicFramePr>
        <p:xfrm>
          <a:off x="6583680" y="150876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rd Триггер разочаровани"/>
          <p:cNvSpPr/>
          <p:nvPr/>
        </p:nvSpPr>
        <p:spPr>
          <a:xfrm>
            <a:off x="6675120" y="4754880"/>
            <a:ext cx="4937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12280" y="4864608"/>
            <a:ext cx="4663440" cy="1197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Триггер разочарования — запах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64% (РФ) и 65% (РБ) открытых ответов. В РФ к цене чувствительнее: 53% против 37%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Упаковка должна показывать продукт и дату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Прозрачность и свежесть важнее дизайна; главная неудовлетворённая потребность — открыть и закрыть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21–23, 33–36, 42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/ 74%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хотят видеть продукт через упаковку (РФ / РБ)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 / 59%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хотят дату производства и срок на лицевой стороне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жалоб на нарезку — «сложно открыть», ещё 28% — «нельзя закрыть»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/ 72%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считают Easy-Peel реальным преимуществом, а не маркетингом</a:t>
            </a:r>
            <a:endParaRPr lang="en-US" sz="1300" dirty="0"/>
          </a:p>
        </p:txBody>
      </p:sp>
      <p:sp>
        <p:nvSpPr>
          <p:cNvPr id="13" name="card Что работает"/>
          <p:cNvSpPr/>
          <p:nvPr/>
        </p:nvSpPr>
        <p:spPr>
          <a:xfrm>
            <a:off x="548640" y="370332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13048"/>
            <a:ext cx="3291840" cy="22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Что работает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Прозрачное окно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Ровная веерная укладка ломтиков: 59–61% считают её дороже, 54–55% — аппетитнее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Красный или крафт среди цветов</a:t>
            </a:r>
            <a:endParaRPr lang="en-US" sz="1600" dirty="0"/>
          </a:p>
        </p:txBody>
      </p:sp>
      <p:sp>
        <p:nvSpPr>
          <p:cNvPr id="15" name="card Что настораживает"/>
          <p:cNvSpPr/>
          <p:nvPr/>
        </p:nvSpPr>
        <p:spPr>
          <a:xfrm>
            <a:off x="4297680" y="370332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3813048"/>
            <a:ext cx="3291840" cy="22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Что настораживает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Непрозрачная упаковка (60–63%)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Мелкий текст (52–59%)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Много рекламных обещаний (42–43%)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«Натуральный», «эко» без объяснений (18–25%)</a:t>
            </a:r>
            <a:endParaRPr lang="en-US" sz="1600" dirty="0"/>
          </a:p>
        </p:txBody>
      </p:sp>
      <p:sp>
        <p:nvSpPr>
          <p:cNvPr id="17" name="card Вес упаковки"/>
          <p:cNvSpPr/>
          <p:nvPr/>
        </p:nvSpPr>
        <p:spPr>
          <a:xfrm>
            <a:off x="8046720" y="3703320"/>
            <a:ext cx="35661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3813048"/>
            <a:ext cx="3291840" cy="22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Вес упаковки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РФ: чаще 151–250 г (51%)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РБ: чаще 251–500 г (46%)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Запрос на мини-порции и снеки «не пачкая руки»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Новинки: интерес есть, но с условиями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Потребитель принимает новое, если видит доказательства и не платит заметно больше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29–31, 38–39, 41–47</a:t>
            </a:r>
            <a:endParaRPr lang="en-US" sz="1000" dirty="0"/>
          </a:p>
        </p:txBody>
      </p:sp>
      <p:sp>
        <p:nvSpPr>
          <p:cNvPr id="5" name="card Высокий белок"/>
          <p:cNvSpPr/>
          <p:nvPr/>
        </p:nvSpPr>
        <p:spPr>
          <a:xfrm>
            <a:off x="548640" y="16002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3291840" cy="2020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Высокий белок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Важен для 67–68%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Повысит покупку при той же цене: 55% РФ, 59% РБ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Но 21% видят в нём маркетинг, 8% подозревают сою</a:t>
            </a:r>
            <a:endParaRPr lang="en-US" sz="1600" dirty="0"/>
          </a:p>
        </p:txBody>
      </p:sp>
      <p:sp>
        <p:nvSpPr>
          <p:cNvPr id="7" name="card Премиальная варёная"/>
          <p:cNvSpPr/>
          <p:nvPr/>
        </p:nvSpPr>
        <p:spPr>
          <a:xfrm>
            <a:off x="4297680" y="16002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709928"/>
            <a:ext cx="3291840" cy="2020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Премиальная варёная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≈60% допускают премиальность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Условие — заметное отличие по качеству и виду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Атрибуты: состав (62–63%), больше мяса (56–57%), отборное сырьё</a:t>
            </a:r>
            <a:endParaRPr lang="en-US" sz="1600" dirty="0"/>
          </a:p>
        </p:txBody>
      </p:sp>
      <p:sp>
        <p:nvSpPr>
          <p:cNvPr id="9" name="card ГОСТ / СТБ"/>
          <p:cNvSpPr/>
          <p:nvPr/>
        </p:nvSpPr>
        <p:spPr>
          <a:xfrm>
            <a:off x="8046720" y="16002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709928"/>
            <a:ext cx="3291840" cy="2020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ГОСТ / СТБ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64% готовы доплатить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Большинство — не более 10% (36% РФ, 41% РБ)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35% не готовы платить больше</a:t>
            </a:r>
            <a:endParaRPr lang="en-US" sz="1600" dirty="0"/>
          </a:p>
        </p:txBody>
      </p:sp>
      <p:sp>
        <p:nvSpPr>
          <p:cNvPr id="11" name="card При равной цене выби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08736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При равной цене выбирают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Больше мяса: 37% РФ / 39% РБ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Простой состав: 35% / 40%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Белок: 20% / 14%; витамины — 8%</a:t>
            </a:r>
            <a:endParaRPr lang="en-US" sz="1600" dirty="0"/>
          </a:p>
        </p:txBody>
      </p:sp>
      <p:sp>
        <p:nvSpPr>
          <p:cNvPr id="13" name="card Идеи новинок"/>
          <p:cNvSpPr/>
          <p:nvPr/>
        </p:nvSpPr>
        <p:spPr>
          <a:xfrm>
            <a:off x="4297680" y="39776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408736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Идеи новинок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Мясные рулеты — 20%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Ассорти нарезок — 15%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Мини-формат — 11%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Но 24% «всего хватает»</a:t>
            </a:r>
            <a:endParaRPr lang="en-US" sz="1600" dirty="0"/>
          </a:p>
        </p:txBody>
      </p:sp>
      <p:sp>
        <p:nvSpPr>
          <p:cNvPr id="15" name="card Claims: реально или "/>
          <p:cNvSpPr/>
          <p:nvPr/>
        </p:nvSpPr>
        <p:spPr>
          <a:xfrm>
            <a:off x="8046720" y="39776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408736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Claims: реально или маркетинг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Без нитритной соли — маркетинг для 59–61%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Натуральные красители (свекольный сок) — реальная польза для 65–76%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Бренды Инкофуда: знают мало, знающие покупают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В РБ лидер — Брестский мясокомбинат; в РФ «Белорусская традиция» и Natura пока нишевые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49–51</a:t>
            </a:r>
            <a:endParaRPr lang="en-US" sz="1000" dirty="0"/>
          </a:p>
        </p:txBody>
      </p:sp>
      <p:graphicFrame>
        <p:nvGraphicFramePr>
          <p:cNvPr id="5" name="brands chart" descr=""/>
          <p:cNvGraphicFramePr/>
          <p:nvPr/>
        </p:nvGraphicFramePr>
        <p:xfrm>
          <a:off x="457200" y="15087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 Конверсия «знаю → по"/>
          <p:cNvSpPr/>
          <p:nvPr/>
        </p:nvSpPr>
        <p:spPr>
          <a:xfrm>
            <a:off x="7406640" y="160020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709928"/>
            <a:ext cx="3931920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Конверсия «знаю → покупаю»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РБ: Natura 35%, «Традиция» 27%. РФ: 20% и 16%. У лидеров 43–75%</a:t>
            </a:r>
            <a:endParaRPr lang="en-US" sz="1600" dirty="0"/>
          </a:p>
        </p:txBody>
      </p:sp>
      <p:sp>
        <p:nvSpPr>
          <p:cNvPr id="8" name="card Спонтанное знание в "/>
          <p:cNvSpPr/>
          <p:nvPr/>
        </p:nvSpPr>
        <p:spPr>
          <a:xfrm>
            <a:off x="7406640" y="320040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43800" y="3310128"/>
            <a:ext cx="3931920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Спонтанное знание в РБ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По 1,3% у обоих брендов, у производителя «Инко-Фуд» — 6,5%</a:t>
            </a:r>
            <a:endParaRPr lang="en-US" sz="1600" dirty="0"/>
          </a:p>
        </p:txBody>
      </p:sp>
      <p:sp>
        <p:nvSpPr>
          <p:cNvPr id="10" name="card Почему не покупают"/>
          <p:cNvSpPr/>
          <p:nvPr/>
        </p:nvSpPr>
        <p:spPr>
          <a:xfrm>
            <a:off x="7406640" y="480060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43800" y="4910328"/>
            <a:ext cx="3931920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Почему не покупают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Не знают бренд (25–33%) и не видят на полке (16–18%). Цену называют лишь 5%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неймов: доверие, современность, эмоция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Ни одно название не связано с мясом напрямую; у каждого своя роль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53–63; доли оценок 9–10 и 1–4 рассчитаны по распределениям</a:t>
            </a:r>
            <a:endParaRPr lang="en-US" sz="1000" dirty="0"/>
          </a:p>
        </p:txBody>
      </p:sp>
      <p:graphicFrame>
        <p:nvGraphicFramePr>
          <p:cNvPr id="11" name="nam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Белорусская традиция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Natura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Беловежский гостинец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Средняя оценка РФ / РБ (1–10)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7,0 / 6,7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6,6 / 6,5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6,3 / 7,0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Оценки 9–10, РФ / РБ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30% / 23%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28% / 25%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26% / 28%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Оценки 1–4, РФ / РБ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10% / 12%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16% / 19%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24% / 11%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Образ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Качественный, традиционный, вызывает доверие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Натуральный, современный, премиальный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Беларусь, Беловежская пуща, зубр, подарок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Сильная сторона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Белорусское качество, ГОСТ, «родное» в РБ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Чистый состав, европейское звучание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Самобытность, тепло, гостеприимство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Слабая сторона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Банально (15%), длинно (13%), «какая традиция?», нет современности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Латиница (12%), «не про мясо», недоверие к «натур»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Длинно (10%), «про конфеты» (6%), полярно в РФ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по исследованию Инкофуд</a:t>
            </a:r>
            <a:endParaRPr lang="en-US" sz="2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16 и анализ данных колоды</a:t>
            </a:r>
            <a:endParaRPr lang="en-US" sz="1000" dirty="0"/>
          </a:p>
        </p:txBody>
      </p:sp>
      <p:sp>
        <p:nvSpPr>
          <p:cNvPr id="4" name="card Продукт"/>
          <p:cNvSpPr/>
          <p:nvPr/>
        </p:nvSpPr>
        <p:spPr>
          <a:xfrm>
            <a:off x="548640" y="1325880"/>
            <a:ext cx="544068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35608"/>
            <a:ext cx="5166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Продукт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Побеждает базовое качество: свежесть, состав, % мяса. Функциональность — дополнение, а не причина покупки</a:t>
            </a:r>
            <a:endParaRPr lang="en-US" sz="1600" dirty="0"/>
          </a:p>
        </p:txBody>
      </p:sp>
      <p:sp>
        <p:nvSpPr>
          <p:cNvPr id="6" name="card Доверие"/>
          <p:cNvSpPr/>
          <p:nvPr/>
        </p:nvSpPr>
        <p:spPr>
          <a:xfrm>
            <a:off x="6172200" y="1325880"/>
            <a:ext cx="544068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435608"/>
            <a:ext cx="5166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Доверие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Строится на упаковке: прозрачность, дата на лицевой стороне, читаемый текст, мало обещаний</a:t>
            </a:r>
            <a:endParaRPr lang="en-US" sz="1600" dirty="0"/>
          </a:p>
        </p:txBody>
      </p:sp>
      <p:sp>
        <p:nvSpPr>
          <p:cNvPr id="8" name="card Удобство"/>
          <p:cNvSpPr/>
          <p:nvPr/>
        </p:nvSpPr>
        <p:spPr>
          <a:xfrm>
            <a:off x="548640" y="2971800"/>
            <a:ext cx="544068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081528"/>
            <a:ext cx="5166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Удобство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Главная нерешённая проблема нарезки — открыть без ножа и закрыть повторно</a:t>
            </a:r>
            <a:endParaRPr lang="en-US" sz="1600" dirty="0"/>
          </a:p>
        </p:txBody>
      </p:sp>
      <p:sp>
        <p:nvSpPr>
          <p:cNvPr id="10" name="card Премиум"/>
          <p:cNvSpPr/>
          <p:nvPr/>
        </p:nvSpPr>
        <p:spPr>
          <a:xfrm>
            <a:off x="6172200" y="2971800"/>
            <a:ext cx="544068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081528"/>
            <a:ext cx="5166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Премиум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Возможен в варёной колбасе, если отличие видно и измеримо; доплата за ГОСТ ≈ до 10%</a:t>
            </a:r>
            <a:endParaRPr lang="en-US" sz="1600" dirty="0"/>
          </a:p>
        </p:txBody>
      </p:sp>
      <p:sp>
        <p:nvSpPr>
          <p:cNvPr id="12" name="card Бренды"/>
          <p:cNvSpPr/>
          <p:nvPr/>
        </p:nvSpPr>
        <p:spPr>
          <a:xfrm>
            <a:off x="548640" y="4617720"/>
            <a:ext cx="544068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727448"/>
            <a:ext cx="5166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Бренды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Препятствие для роста — известность и наличие на полке, а не цена или вкус</a:t>
            </a:r>
            <a:endParaRPr lang="en-US" sz="1600" dirty="0"/>
          </a:p>
        </p:txBody>
      </p:sp>
      <p:sp>
        <p:nvSpPr>
          <p:cNvPr id="14" name="card Нейминг"/>
          <p:cNvSpPr/>
          <p:nvPr/>
        </p:nvSpPr>
        <p:spPr>
          <a:xfrm>
            <a:off x="6172200" y="4617720"/>
            <a:ext cx="544068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727448"/>
            <a:ext cx="51663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Нейминг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«Традиция» — доверие без отличия, Natura — современность без связи с мясом, «Гостинец» — эмоция подарка</a:t>
            </a:r>
            <a:endParaRPr lang="en-US" sz="16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2. Сопоставление с другими исследованиями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Нильсен (итоги 2025; FMCG до августа 2026) · РОМИР · СберМаркетинг (тренды, «Серебряный возраст») · ЭКОПСИ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Рынок: мясо медленнее FMCG, рост в онлайне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Январь–август 2026 к тому же периоду 2025, денежное выражение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nielsen-fmcg-do-avgusta-2026, сл. 3–9, 13; nielsen-itogi-2025-vektory-2026, сл. 13–15, 36</a:t>
            </a:r>
            <a:endParaRPr lang="en-US" sz="1000" dirty="0"/>
          </a:p>
        </p:txBody>
      </p:sp>
      <p:graphicFrame>
        <p:nvGraphicFramePr>
          <p:cNvPr id="5" name="market chart" descr=""/>
          <p:cNvGraphicFramePr/>
          <p:nvPr/>
        </p:nvGraphicFramePr>
        <p:xfrm>
          <a:off x="457200" y="1508760"/>
          <a:ext cx="57607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 Мясо онлайн — +34%"/>
          <p:cNvSpPr/>
          <p:nvPr/>
        </p:nvSpPr>
        <p:spPr>
          <a:xfrm>
            <a:off x="6400800" y="1600200"/>
            <a:ext cx="5212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37960" y="1709928"/>
            <a:ext cx="493776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Мясо онлайн — +34%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Доля мяса в онлайн-продажах FMCG — 12,2%; в штуках +36%</a:t>
            </a:r>
            <a:endParaRPr lang="en-US" sz="1600" dirty="0"/>
          </a:p>
        </p:txBody>
      </p:sp>
      <p:sp>
        <p:nvSpPr>
          <p:cNvPr id="8" name="card СТМ давит на колбасы"/>
          <p:cNvSpPr/>
          <p:nvPr/>
        </p:nvSpPr>
        <p:spPr>
          <a:xfrm>
            <a:off x="6400800" y="2834640"/>
            <a:ext cx="5212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944368"/>
            <a:ext cx="493776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СТМ давит на колбасы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Упакованные колбасные изделия — №1 по вкладу в рост СТМ офлайн; мясо — 26% продаж СТМ</a:t>
            </a:r>
            <a:endParaRPr lang="en-US" sz="1600" dirty="0"/>
          </a:p>
        </p:txBody>
      </p:sp>
      <p:sp>
        <p:nvSpPr>
          <p:cNvPr id="10" name="card Сосиски в минусе"/>
          <p:cNvSpPr/>
          <p:nvPr/>
        </p:nvSpPr>
        <p:spPr>
          <a:xfrm>
            <a:off x="6400800" y="4069080"/>
            <a:ext cx="5212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4178808"/>
            <a:ext cx="493776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Сосиски в минусе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Июнь–август 2026: сосиски — среди категорий-драйверов снижения рынка</a:t>
            </a:r>
            <a:endParaRPr lang="en-US" sz="1600" dirty="0"/>
          </a:p>
        </p:txBody>
      </p:sp>
      <p:sp>
        <p:nvSpPr>
          <p:cNvPr id="12" name="card Полка сужается"/>
          <p:cNvSpPr/>
          <p:nvPr/>
        </p:nvSpPr>
        <p:spPr>
          <a:xfrm>
            <a:off x="6400800" y="5303520"/>
            <a:ext cx="5212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5413248"/>
            <a:ext cx="4937760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Полка сужается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14% брендов 2024 года уже исчезли; 80% продаж — 2,9% SKU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Покупатель: рациональный, тревожный, ищет доверие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Что о потребителе говорят РОМИР, СберМаркетинг и ЭКОПСИ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romir-trendy-2026, сл. 7, 14, 18, 20, 25, 27, 39; sbermarket-serebryanyy-vozrast-2026, сл. 23–26; sbermarket-globalnye-trendy-2026, сл. 24, 26, 32; ekopsi, сл. 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индекс потребительской уверенности, III кв. 2026 (было +11 в I кв. 2025)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называют ценностью рациональность, 65% — здоровье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покупают СТМ; колбасы — в топе категорий СТМ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средний чек в штуках; частота покупок продуктов +4,8%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 ч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 день человек проводит один</a:t>
            </a:r>
            <a:endParaRPr lang="en-US" sz="1300" dirty="0"/>
          </a:p>
        </p:txBody>
      </p:sp>
      <p:sp>
        <p:nvSpPr>
          <p:cNvPr id="15" name="card Серебряный возраст ("/>
          <p:cNvSpPr/>
          <p:nvPr/>
        </p:nvSpPr>
        <p:spPr>
          <a:xfrm>
            <a:off x="548640" y="379476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04488"/>
            <a:ext cx="32918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Серебряный возраст (55–75)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Колбасы и мясо — «высокая лояльность, бренды меняют редко»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66% считают местные продукты полезнее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Реклама — первый источник знаний, лучше всего работает видео</a:t>
            </a:r>
            <a:endParaRPr lang="en-US" sz="1600" dirty="0"/>
          </a:p>
        </p:txBody>
      </p:sp>
      <p:sp>
        <p:nvSpPr>
          <p:cNvPr id="17" name="card Глобальные тренды"/>
          <p:cNvSpPr/>
          <p:nvPr/>
        </p:nvSpPr>
        <p:spPr>
          <a:xfrm>
            <a:off x="4297680" y="379476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3904488"/>
            <a:ext cx="32918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Глобальные тренды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Честность вместо глянца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«Докажи или проиграешь»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Здоровье как новый люкс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Обращение к традициям в современной подаче</a:t>
            </a:r>
            <a:endParaRPr lang="en-US" sz="1600" dirty="0"/>
          </a:p>
        </p:txBody>
      </p:sp>
      <p:sp>
        <p:nvSpPr>
          <p:cNvPr id="19" name="card ЭКОПСИ: поколений не"/>
          <p:cNvSpPr/>
          <p:nvPr/>
        </p:nvSpPr>
        <p:spPr>
          <a:xfrm>
            <a:off x="8046720" y="379476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904488"/>
            <a:ext cx="32918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ЭКОПСИ: поколений нет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млн респондентов, 2011–2024: различий между «поколениями» нет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Сегментировать по ситуациям и ценностям, а не по году рождения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исследования совпадают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Пять выводов Инкофуда подтверждаются рыночными данными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inkofood-2026; romir-trendy-2026, сл. 17, 21, 26, 30, 44; nielsen-fmcg-do-avgusta-2026, сл. 5; sbermarket-globalnye-trendy-2026, сл. 24</a:t>
            </a:r>
            <a:endParaRPr lang="en-US" sz="1000" dirty="0"/>
          </a:p>
        </p:txBody>
      </p:sp>
      <p:graphicFrame>
        <p:nvGraphicFramePr>
          <p:cNvPr id="16" name="agre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Вывод Инкофуда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Подтверждение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Что это значит для брендов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Сценарии: перекус, в дорогу, «для себя»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РОМИР: миссии «перекус для себя», «взять в дорогу», «побаловать себя»; 5,6 ч в день наедине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Порционные и снековые форматы, коммуникация «момент для себя»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Доверие = прозрачность, мало обещаний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СберМаркетинг: «честность как эстетика», &gt;50% покупают только у брендов, которым полностью доверяют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Показывать продукт и цифры, без глянца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Свежесть — главный критерий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РОМИР: «уверенность в качестве и свежести» — базовая ценность ритейла с 2015 года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Дата на лицевой стороне, контроль холодовой цепи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Барьер — нет на полке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Нильсен: онлайн +35%, хард-дискаунтеры +22%, гипермаркеты ≈0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Дистрибуция в растущих каналах — до рекламы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</a:rPr>
                        <a:t>Готовы доплатить, но немного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РОМИР: «рационально ≠ дёшево», готовая еда +22%, грудка индейки +20%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</a:rPr>
                        <a:t>Премия ≤10% за измеримое преимущество</a:t>
                      </a:r>
                      <a:endParaRPr lang="en-US" sz="15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Противоречия между исследованиями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Расхождения связаны с разными аудиториями, периодами и тем, как вопрос задан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6, 7, 8, 44; romir-trendy-2026, сл. 7, 18, 20, 21; nielsen-itogi-2025, сл. 3, 22; nielsen-fmcg-do-avgusta-2026, сл. 4, 9; sbermarket-serebryanyy-vozrast-2026, сл. 24; ekopsi, сл. 19</a:t>
            </a:r>
            <a:endParaRPr lang="en-US" sz="1000" dirty="0"/>
          </a:p>
        </p:txBody>
      </p:sp>
      <p:graphicFrame>
        <p:nvGraphicFramePr>
          <p:cNvPr id="17" name="contradi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Тема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С одной стороны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С другой стороны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Как читать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Здоровье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РОМИР: 65% ценят здоровье; Нильсен: продукты с протеином +20% в штуках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Инкофуд: «полезность» — драйвер для 8% РФ и 1% РБ; при равной цене белок выбирают 20% / 14%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В мясе здоровье означает чистый состав и больше мяса, а не обогащение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Лояльность к бренду колбас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СберМаркетинг 55–75: колбасы — «высокая лояльность»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Инкофуд: известность бренда важна 26% / 10%; РОМИР и Нильсен: колбасы — лидер роста СТМ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Разные аудитории: в выборке Инкофуда ≈10% людей 55+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Настроение покупателя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Нильсен (IV кв. 2025): индекс оптимизма 105, «рациональный оптимизм»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РОМИР: ИПУ упал до −9 в III кв. 2026; Нильсен: реальный спрос в августе 2026 +10%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Тревога выше, но покупают чаще и мельче (чек в шт. −16%)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Деликатесы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Инкофуд: категория повседневная, 66–77% едят 2–3 раза в неделю и чаще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РОМИР: «деликатесы» — 17 из 34 по готовности отказаться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Базовую колбасу не режут, режут балык и сыровяленое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Сосиски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Инкофуд: №1 по регулярной покупке (81% / 76%)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Нильсен: сосиски — драйвер снижения рынка (июнь–август 2026)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Высокая пенетрация не означает роста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Поколения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СберМаркетинг: «современные 55 — бывшие 40»; Нильсен: оптимизм 18–34 = 120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ЭКОПСИ: различий между поколениями нет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Сегментировать по ситуациям потребления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Противоречия внутри исследования Инкофуд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Где данные одной колоды тянут в разные стороны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6, 8, 13, 17, 30–35, 42, 46, 51, 53–58</a:t>
            </a:r>
            <a:endParaRPr lang="en-US" sz="1000" dirty="0"/>
          </a:p>
        </p:txBody>
      </p:sp>
      <p:sp>
        <p:nvSpPr>
          <p:cNvPr id="5" name="contra 0"/>
          <p:cNvSpPr/>
          <p:nvPr/>
        </p:nvSpPr>
        <p:spPr>
          <a:xfrm>
            <a:off x="548640" y="1508760"/>
            <a:ext cx="5852160" cy="694944"/>
          </a:xfrm>
          <a:prstGeom prst="roundRect">
            <a:avLst>
              <a:gd name="adj" fmla="val 789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Польза не мотивирует ↔ 72–80% готовы изменить вкус ради пользы</a:t>
            </a:r>
            <a:endParaRPr lang="en-US" sz="1250" dirty="0"/>
          </a:p>
        </p:txBody>
      </p:sp>
      <p:sp>
        <p:nvSpPr>
          <p:cNvPr id="7" name="arrow 0"/>
          <p:cNvSpPr/>
          <p:nvPr/>
        </p:nvSpPr>
        <p:spPr>
          <a:xfrm>
            <a:off x="6492240" y="1691640"/>
            <a:ext cx="4114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150876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Заявленная готовность выше реального поведения: проверять тестом на полке, а не опросом</a:t>
            </a:r>
            <a:endParaRPr lang="en-US" sz="1250" dirty="0"/>
          </a:p>
        </p:txBody>
      </p:sp>
      <p:sp>
        <p:nvSpPr>
          <p:cNvPr id="9" name="contra 1"/>
          <p:cNvSpPr/>
          <p:nvPr/>
        </p:nvSpPr>
        <p:spPr>
          <a:xfrm>
            <a:off x="548640" y="2295144"/>
            <a:ext cx="5852160" cy="694944"/>
          </a:xfrm>
          <a:prstGeom prst="roundRect">
            <a:avLst>
              <a:gd name="adj" fmla="val 789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295144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Бренд не важен (26% / 10%) ↔ главный барьер своих брендов — незнание (25–33%)</a:t>
            </a:r>
            <a:endParaRPr lang="en-US" sz="1250" dirty="0"/>
          </a:p>
        </p:txBody>
      </p:sp>
      <p:sp>
        <p:nvSpPr>
          <p:cNvPr id="11" name="arrow 1"/>
          <p:cNvSpPr/>
          <p:nvPr/>
        </p:nvSpPr>
        <p:spPr>
          <a:xfrm>
            <a:off x="6492240" y="2478024"/>
            <a:ext cx="4114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29514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Бренд не повод купить, но незнакомый бренд — повод отказаться. Нужен порог узнаваемости</a:t>
            </a:r>
            <a:endParaRPr lang="en-US" sz="1250" dirty="0"/>
          </a:p>
        </p:txBody>
      </p:sp>
      <p:sp>
        <p:nvSpPr>
          <p:cNvPr id="13" name="contra 2"/>
          <p:cNvSpPr/>
          <p:nvPr/>
        </p:nvSpPr>
        <p:spPr>
          <a:xfrm>
            <a:off x="548640" y="3081528"/>
            <a:ext cx="5852160" cy="694944"/>
          </a:xfrm>
          <a:prstGeom prst="roundRect">
            <a:avLst>
              <a:gd name="adj" fmla="val 789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81528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Хотят «без нежелательных ингредиентов» (34–44%) ↔ «без нитритной соли» — маркетинг (59–61%)</a:t>
            </a:r>
            <a:endParaRPr lang="en-US" sz="1250" dirty="0"/>
          </a:p>
        </p:txBody>
      </p:sp>
      <p:sp>
        <p:nvSpPr>
          <p:cNvPr id="15" name="arrow 2"/>
          <p:cNvSpPr/>
          <p:nvPr/>
        </p:nvSpPr>
        <p:spPr>
          <a:xfrm>
            <a:off x="6492240" y="3264408"/>
            <a:ext cx="4114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30815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Хотят видеть отсутствие добавок, но не верят модным формулировкам. Писать конкретно, что заменено</a:t>
            </a:r>
            <a:endParaRPr lang="en-US" sz="1250" dirty="0"/>
          </a:p>
        </p:txBody>
      </p:sp>
      <p:sp>
        <p:nvSpPr>
          <p:cNvPr id="17" name="contra 3"/>
          <p:cNvSpPr/>
          <p:nvPr/>
        </p:nvSpPr>
        <p:spPr>
          <a:xfrm>
            <a:off x="548640" y="3867912"/>
            <a:ext cx="5852160" cy="694944"/>
          </a:xfrm>
          <a:prstGeom prst="roundRect">
            <a:avLst>
              <a:gd name="adj" fmla="val 789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6791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Нейм Natura строится на натуральности ↔ «натуральный / эко» без объяснения настораживает</a:t>
            </a:r>
            <a:endParaRPr lang="en-US" sz="1250" dirty="0"/>
          </a:p>
        </p:txBody>
      </p:sp>
      <p:sp>
        <p:nvSpPr>
          <p:cNvPr id="19" name="arrow 3"/>
          <p:cNvSpPr/>
          <p:nvPr/>
        </p:nvSpPr>
        <p:spPr>
          <a:xfrm>
            <a:off x="6492240" y="4050792"/>
            <a:ext cx="4114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386791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Название обязывает доказывать: цифры состава на лицевой стороне</a:t>
            </a:r>
            <a:endParaRPr lang="en-US" sz="1250" dirty="0"/>
          </a:p>
        </p:txBody>
      </p:sp>
      <p:sp>
        <p:nvSpPr>
          <p:cNvPr id="21" name="contra 4"/>
          <p:cNvSpPr/>
          <p:nvPr/>
        </p:nvSpPr>
        <p:spPr>
          <a:xfrm>
            <a:off x="548640" y="4654296"/>
            <a:ext cx="5852160" cy="694944"/>
          </a:xfrm>
          <a:prstGeom prst="roundRect">
            <a:avLst>
              <a:gd name="adj" fmla="val 789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54296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Страна происхождения важна 11% / 20% ↔ образ «Традиции» держится на «сделано в Беларуси»</a:t>
            </a:r>
            <a:endParaRPr lang="en-US" sz="1250" dirty="0"/>
          </a:p>
        </p:txBody>
      </p:sp>
      <p:sp>
        <p:nvSpPr>
          <p:cNvPr id="23" name="arrow 4"/>
          <p:cNvSpPr/>
          <p:nvPr/>
        </p:nvSpPr>
        <p:spPr>
          <a:xfrm>
            <a:off x="6492240" y="4837176"/>
            <a:ext cx="4114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465429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Происхождение работает как знак качества и ГОСТа, а не как отдельный критерий</a:t>
            </a:r>
            <a:endParaRPr lang="en-US" sz="1250" dirty="0"/>
          </a:p>
        </p:txBody>
      </p:sp>
      <p:sp>
        <p:nvSpPr>
          <p:cNvPr id="25" name="contra 5"/>
          <p:cNvSpPr/>
          <p:nvPr/>
        </p:nvSpPr>
        <p:spPr>
          <a:xfrm>
            <a:off x="548640" y="5440680"/>
            <a:ext cx="5852160" cy="694944"/>
          </a:xfrm>
          <a:prstGeom prst="roundRect">
            <a:avLst>
              <a:gd name="adj" fmla="val 789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440680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Красный — любимый цвет упаковки (25% / 34%) ↔ «слишком яркие цвета» настораживают (35% / 21%)</a:t>
            </a:r>
            <a:endParaRPr lang="en-US" sz="1250" dirty="0"/>
          </a:p>
        </p:txBody>
      </p:sp>
      <p:sp>
        <p:nvSpPr>
          <p:cNvPr id="27" name="arrow 5"/>
          <p:cNvSpPr/>
          <p:nvPr/>
        </p:nvSpPr>
        <p:spPr>
          <a:xfrm>
            <a:off x="6492240" y="5623560"/>
            <a:ext cx="4114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544068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Красный акцент — да, кричащая заливка — нет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3. Предложения по брендам и продвижению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Портфель, продукт, упаковка, каналы, коммуникация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портфеля: три разные роли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Не распылять бюджет: два основных бренда и подарочная линия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синтез по всем колодам</a:t>
            </a:r>
            <a:endParaRPr lang="en-US" sz="1000" dirty="0"/>
          </a:p>
        </p:txBody>
      </p:sp>
      <p:sp>
        <p:nvSpPr>
          <p:cNvPr id="5" name="brand head 0"/>
          <p:cNvSpPr/>
          <p:nvPr/>
        </p:nvSpPr>
        <p:spPr>
          <a:xfrm>
            <a:off x="548640" y="160020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Белорусская традиция</a:t>
            </a:r>
            <a:endParaRPr lang="en-US" sz="19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Флагман доверия</a:t>
            </a:r>
            <a:endParaRPr lang="en-US" sz="1900" dirty="0"/>
          </a:p>
        </p:txBody>
      </p:sp>
      <p:sp>
        <p:nvSpPr>
          <p:cNvPr id="7" name="card Роль и фокус"/>
          <p:cNvSpPr/>
          <p:nvPr/>
        </p:nvSpPr>
        <p:spPr>
          <a:xfrm>
            <a:off x="548640" y="2743200"/>
            <a:ext cx="35661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52928"/>
            <a:ext cx="3291840" cy="320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Роль и фокус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Классика: варёная, сервелат, сосиски, ветчина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Мейнстрим+, основа объёма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РБ — защита домашнего рынка; РФ — «белорусское качество по ГОСТ»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 переименовывать: усилить конкретикой «Сделано в Бресте»</a:t>
            </a:r>
            <a:endParaRPr lang="en-US" sz="1600" dirty="0"/>
          </a:p>
        </p:txBody>
      </p:sp>
      <p:sp>
        <p:nvSpPr>
          <p:cNvPr id="9" name="brand head 1"/>
          <p:cNvSpPr/>
          <p:nvPr/>
        </p:nvSpPr>
        <p:spPr>
          <a:xfrm>
            <a:off x="4297680" y="160020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Natura</a:t>
            </a:r>
            <a:endParaRPr lang="en-US" sz="19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Современная чистая этикетка</a:t>
            </a:r>
            <a:endParaRPr lang="en-US" sz="1900" dirty="0"/>
          </a:p>
        </p:txBody>
      </p:sp>
      <p:sp>
        <p:nvSpPr>
          <p:cNvPr id="11" name="card Роль и фокус"/>
          <p:cNvSpPr/>
          <p:nvPr/>
        </p:nvSpPr>
        <p:spPr>
          <a:xfrm>
            <a:off x="4297680" y="2743200"/>
            <a:ext cx="35661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852928"/>
            <a:ext cx="3291840" cy="320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Роль и фокус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Нарезки, ветчина, птица, белковые позиции, снеки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Премиум, городская аудитория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Онлайн и современные супермаркеты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Добавить кириллический дескриптор и мясной контекст</a:t>
            </a:r>
            <a:endParaRPr lang="en-US" sz="1600" dirty="0"/>
          </a:p>
        </p:txBody>
      </p:sp>
      <p:sp>
        <p:nvSpPr>
          <p:cNvPr id="13" name="brand head 2"/>
          <p:cNvSpPr/>
          <p:nvPr/>
        </p:nvSpPr>
        <p:spPr>
          <a:xfrm>
            <a:off x="8046720" y="1600200"/>
            <a:ext cx="356616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Беловежский гостинец</a:t>
            </a:r>
            <a:endParaRPr lang="en-US" sz="19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Подарочная и сезонная линия</a:t>
            </a:r>
            <a:endParaRPr lang="en-US" sz="1900" dirty="0"/>
          </a:p>
        </p:txBody>
      </p:sp>
      <p:sp>
        <p:nvSpPr>
          <p:cNvPr id="15" name="card Роль и фокус"/>
          <p:cNvSpPr/>
          <p:nvPr/>
        </p:nvSpPr>
        <p:spPr>
          <a:xfrm>
            <a:off x="8046720" y="2743200"/>
            <a:ext cx="35661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852928"/>
            <a:ext cx="3291840" cy="320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Роль и фокус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Ассорти и наборы, Новый год, сувенир из Беларуси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 зонтиком «Традиции», не отдельный бренд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РБ (7,0 балла), туристы, корпоративные подарки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 РФ — осторожно: 24% низких оценок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«Белорусская традиция»: доказанная традиция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Сохранить доверие и добавить отличие и современность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26, 34–39, 43, 50–56; sbermarket-globalnye-trendy-2026, сл. 32</a:t>
            </a:r>
            <a:endParaRPr lang="en-US" sz="1000" dirty="0"/>
          </a:p>
        </p:txBody>
      </p:sp>
      <p:sp>
        <p:nvSpPr>
          <p:cNvPr id="5" name="card Продукт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3291840" cy="4352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Продукт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Премиальная варёная «по ГОСТ» с % мяса на лицевой стороне; премия до 10%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Сервелат с узнаваемым срезом: жировые вкрапления, копчёность — в прозрачной упаковке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Сосиски — защищать долю, без расширения линейки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Ассорти «к празднику» с сервелатом</a:t>
            </a:r>
            <a:endParaRPr lang="en-US" sz="1600" dirty="0"/>
          </a:p>
        </p:txBody>
      </p:sp>
      <p:sp>
        <p:nvSpPr>
          <p:cNvPr id="7" name="card Упаковка и нейм"/>
          <p:cNvSpPr/>
          <p:nvPr/>
        </p:nvSpPr>
        <p:spPr>
          <a:xfrm>
            <a:off x="429768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709928"/>
            <a:ext cx="3291840" cy="4352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Упаковка и нейм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Ответить на «какая традиция?»: Брест, рецептура, ГОСТ / СТБ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Обновить дизайн: окно, дата спереди, крупный шрифт; белорусский орнамент вместо «советского стиля»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Красный как акцент, а не заливка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Короткая форма для речи и онлайна</a:t>
            </a:r>
            <a:endParaRPr lang="en-US" sz="1600" dirty="0"/>
          </a:p>
        </p:txBody>
      </p:sp>
      <p:sp>
        <p:nvSpPr>
          <p:cNvPr id="9" name="card Продвижение"/>
          <p:cNvSpPr/>
          <p:nvPr/>
        </p:nvSpPr>
        <p:spPr>
          <a:xfrm>
            <a:off x="804672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709928"/>
            <a:ext cx="3291840" cy="4352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Продвижение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РБ: закрыть пробел наличия (17,5% «нет в магазине»), дегустации, пробные механики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РФ: «белорусское качество» как доказательство — ГОСТ, % мяса, срок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Сценарии: завтрак (РФ), семейный стол и праздник (РБ)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Видео о производстве «без фильтров»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Natura: натуральность, которую можно проверить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Современный и премиальный образ есть; не хватает связи с мясом и доказательств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23, 31, 41–47, 57–60; nielsen-itogi-2025, сл. 22; sbermarket-globalnye-trendy-2026, сл. 7, 13, 15</a:t>
            </a:r>
            <a:endParaRPr lang="en-US" sz="1000" dirty="0"/>
          </a:p>
        </p:txBody>
      </p:sp>
      <p:sp>
        <p:nvSpPr>
          <p:cNvPr id="5" name="card Продукт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3291840" cy="4352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Продукт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Белковая нарезка и ветчина с цифрой на упаковке: «X г белка на 100 г», «мяса Y%»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Натуральные красители (свекольный сок) — 65–76% считают реальной пользой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Мини-порции, мясные снеки и чипсы, ассорти 3–5 видов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Рулеты с начинками как тестовая новинка</a:t>
            </a:r>
            <a:endParaRPr lang="en-US" sz="1600" dirty="0"/>
          </a:p>
        </p:txBody>
      </p:sp>
      <p:sp>
        <p:nvSpPr>
          <p:cNvPr id="7" name="card Упаковка и нейм"/>
          <p:cNvSpPr/>
          <p:nvPr/>
        </p:nvSpPr>
        <p:spPr>
          <a:xfrm>
            <a:off x="429768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709928"/>
            <a:ext cx="3291840" cy="4352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Упаковка и нейм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Easy-Peel и повторное закрытие — стандарт линейки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Дескриптор на кириллице и мясной контекст рядом с Natura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Без слов «эко», «фермерский» без пояснений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 делать «без нитритной соли» главным обещанием</a:t>
            </a:r>
            <a:endParaRPr lang="en-US" sz="1600" dirty="0"/>
          </a:p>
        </p:txBody>
      </p:sp>
      <p:sp>
        <p:nvSpPr>
          <p:cNvPr id="9" name="card Продвижение"/>
          <p:cNvSpPr/>
          <p:nvPr/>
        </p:nvSpPr>
        <p:spPr>
          <a:xfrm>
            <a:off x="8046720" y="1600200"/>
            <a:ext cx="3566160" cy="45720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709928"/>
            <a:ext cx="3291840" cy="4352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Продвижение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Каналы: e-grocery, маркетплейсы, быстрая доставка, современные супермаркеты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Креаторы и микросообщества: спорт, правильное питание, офис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Карточки товара под AI-поиск: состав, белок, % мяса структурированно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Сценарии: перекус в дороге, после тренировки, вечер для себя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«Беловежский гостинец»: подарочная линия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Нейм эмоциональный и самобытный, но про подарок и сладости, а не про колбасу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inkofood-2026, сл. 41, 61–63; nielsen-itogi-2025, сл. 12–15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средняя оценка в РБ — лучшая из трёх неймов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низких оценок (1–4) в РФ — самый полярный нейм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просят ассорти и дегустационные наборы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6002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новых брендов 2024 года уже ушли с полок</a:t>
            </a:r>
            <a:endParaRPr lang="en-US" sz="1300" dirty="0"/>
          </a:p>
        </p:txBody>
      </p:sp>
      <p:sp>
        <p:nvSpPr>
          <p:cNvPr id="13" name="card Предложение"/>
          <p:cNvSpPr/>
          <p:nvPr/>
        </p:nvSpPr>
        <p:spPr>
          <a:xfrm>
            <a:off x="548640" y="3749040"/>
            <a:ext cx="54864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58768"/>
            <a:ext cx="5212080" cy="2203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Предложение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Сезонная линия «к Новому году» и подарочные наборы под зонтиком «Белорусской традиции»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Каналы: фирменная розница, Брест и Беловежская пуща, туристы, корпоративные заказы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Мясной контекст на упаковке: «копчёности», «деликатесы из Бреста»</a:t>
            </a:r>
            <a:endParaRPr lang="en-US" sz="1600" dirty="0"/>
          </a:p>
        </p:txBody>
      </p:sp>
      <p:sp>
        <p:nvSpPr>
          <p:cNvPr id="15" name="card Почему не отдельный "/>
          <p:cNvSpPr/>
          <p:nvPr/>
        </p:nvSpPr>
        <p:spPr>
          <a:xfrm>
            <a:off x="6217920" y="3749040"/>
            <a:ext cx="53949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858768"/>
            <a:ext cx="5120640" cy="2203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Почему не отдельный бренд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Рынок сокращает ассортимент; новичку сложно удержаться на полке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Бюджета на знание трёх брендов при текущем знании 13–28% не хватит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Ассоциации «конфеты», «сувенир» мешают повседневной покупке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Продвижение: шесть правил для всех брендов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Порядок важен: сначала наличие на полке и упаковка, потом медиа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синтез: inkofood-2026; nielsen-fmcg-do-avgusta-2026; romir-trendy-2026; sbermarket-*</a:t>
            </a:r>
            <a:endParaRPr lang="en-US" sz="1000" dirty="0"/>
          </a:p>
        </p:txBody>
      </p:sp>
      <p:sp>
        <p:nvSpPr>
          <p:cNvPr id="5" name="card 1. Наличие на полке"/>
          <p:cNvSpPr/>
          <p:nvPr/>
        </p:nvSpPr>
        <p:spPr>
          <a:xfrm>
            <a:off x="548640" y="1600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Наличие на полке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Хард-дискаунтеры и онлайн растут быстрее рынка; «нет в магазине» — второй барьер брендов</a:t>
            </a:r>
            <a:endParaRPr lang="en-US" sz="1700" dirty="0"/>
          </a:p>
        </p:txBody>
      </p:sp>
      <p:sp>
        <p:nvSpPr>
          <p:cNvPr id="7" name="card 2. Упаковка как меди"/>
          <p:cNvSpPr/>
          <p:nvPr/>
        </p:nvSpPr>
        <p:spPr>
          <a:xfrm>
            <a:off x="4297680" y="1600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70992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Упаковка как медиа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Окно, дата спереди, веерная укладка, Easy-Peel, повторное закрытие; РФ 151–250 г, РБ 251–500 г</a:t>
            </a:r>
            <a:endParaRPr lang="en-US" sz="1700" dirty="0"/>
          </a:p>
        </p:txBody>
      </p:sp>
      <p:sp>
        <p:nvSpPr>
          <p:cNvPr id="9" name="card 3. Доказательства"/>
          <p:cNvSpPr/>
          <p:nvPr/>
        </p:nvSpPr>
        <p:spPr>
          <a:xfrm>
            <a:off x="8046720" y="16002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70992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Доказательства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% мяса, граммы белка, ГОСТ / СТБ — цифрами. Меньше обещаний — больше доверия</a:t>
            </a:r>
            <a:endParaRPr lang="en-US" sz="1700" dirty="0"/>
          </a:p>
        </p:txBody>
      </p:sp>
      <p:sp>
        <p:nvSpPr>
          <p:cNvPr id="11" name="card 4. Сценарии, а не во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04164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4. Сценарии, а не возраст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Завтрак (РФ), перекус в дороге (РБ), вечер «для себя», праздничный стол</a:t>
            </a:r>
            <a:endParaRPr lang="en-US" sz="1700" dirty="0"/>
          </a:p>
        </p:txBody>
      </p:sp>
      <p:sp>
        <p:nvSpPr>
          <p:cNvPr id="13" name="card 5. Разные цены в дву"/>
          <p:cNvSpPr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404164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5. Разные цены в двух странах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РФ чувствительнее к цене и акциям (39% против 17%); в РБ упор на качество и свежесть</a:t>
            </a:r>
            <a:endParaRPr lang="en-US" sz="1700" dirty="0"/>
          </a:p>
        </p:txBody>
      </p:sp>
      <p:sp>
        <p:nvSpPr>
          <p:cNvPr id="15" name="card 6. Не забыть 55+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4041648"/>
            <a:ext cx="3291840" cy="1975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6. Не забыть 55+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36% населения, высокая лояльность к колбасам; реклама и видео — главный источник знаний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12 месяцев и что проверить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Предложения — гипотезы; каждую проверять пилотом и замером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Источник: предложение по итогам анализа</a:t>
            </a:r>
            <a:endParaRPr lang="en-US" sz="1000" dirty="0"/>
          </a:p>
        </p:txBody>
      </p:sp>
      <p:sp>
        <p:nvSpPr>
          <p:cNvPr id="5" name="pill 0–3 мес."/>
          <p:cNvSpPr/>
          <p:nvPr/>
        </p:nvSpPr>
        <p:spPr>
          <a:xfrm>
            <a:off x="548640" y="1600200"/>
            <a:ext cx="3566160" cy="384048"/>
          </a:xfrm>
          <a:prstGeom prst="roundRect">
            <a:avLst>
              <a:gd name="adj" fmla="val 47619"/>
            </a:avLst>
          </a:prstGeom>
          <a:solidFill>
            <a:srgbClr val="8C2232"/>
          </a:solidFill>
          <a:ln w="12700">
            <a:solidFill>
              <a:srgbClr val="8C2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0–3 мес.</a:t>
            </a:r>
            <a:endParaRPr lang="en-US" sz="1300" dirty="0"/>
          </a:p>
        </p:txBody>
      </p:sp>
      <p:sp>
        <p:nvSpPr>
          <p:cNvPr id="7" name="card Шаги"/>
          <p:cNvSpPr/>
          <p:nvPr/>
        </p:nvSpPr>
        <p:spPr>
          <a:xfrm>
            <a:off x="548640" y="210312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12848"/>
            <a:ext cx="3291840" cy="179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Шаги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Аудит наличия «Традиции» и Natura в РБ и РФ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Редизайн упаковки: окно, дата, шрифт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Тест логотипов с дескрипторами</a:t>
            </a:r>
            <a:endParaRPr lang="en-US" sz="1600" dirty="0"/>
          </a:p>
        </p:txBody>
      </p:sp>
      <p:sp>
        <p:nvSpPr>
          <p:cNvPr id="9" name="pill 3–6 мес."/>
          <p:cNvSpPr/>
          <p:nvPr/>
        </p:nvSpPr>
        <p:spPr>
          <a:xfrm>
            <a:off x="4297680" y="1600200"/>
            <a:ext cx="3566160" cy="384048"/>
          </a:xfrm>
          <a:prstGeom prst="roundRect">
            <a:avLst>
              <a:gd name="adj" fmla="val 47619"/>
            </a:avLst>
          </a:prstGeom>
          <a:solidFill>
            <a:srgbClr val="B07D12"/>
          </a:solidFill>
          <a:ln w="12700">
            <a:solidFill>
              <a:srgbClr val="B07D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3–6 мес.</a:t>
            </a:r>
            <a:endParaRPr lang="en-US" sz="1300" dirty="0"/>
          </a:p>
        </p:txBody>
      </p:sp>
      <p:sp>
        <p:nvSpPr>
          <p:cNvPr id="11" name="card Шаги"/>
          <p:cNvSpPr/>
          <p:nvPr/>
        </p:nvSpPr>
        <p:spPr>
          <a:xfrm>
            <a:off x="4297680" y="210312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212848"/>
            <a:ext cx="3291840" cy="179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Шаги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Пилот премиальной варёной «Традиции»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Пилот белковой нарезки Natura онлайн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Вход в 1–2 сети хард-дискаунтеров</a:t>
            </a:r>
            <a:endParaRPr lang="en-US" sz="1600" dirty="0"/>
          </a:p>
        </p:txBody>
      </p:sp>
      <p:sp>
        <p:nvSpPr>
          <p:cNvPr id="13" name="pill 6–12 мес."/>
          <p:cNvSpPr/>
          <p:nvPr/>
        </p:nvSpPr>
        <p:spPr>
          <a:xfrm>
            <a:off x="8046720" y="1600200"/>
            <a:ext cx="3566160" cy="384048"/>
          </a:xfrm>
          <a:prstGeom prst="roundRect">
            <a:avLst>
              <a:gd name="adj" fmla="val 47619"/>
            </a:avLst>
          </a:prstGeom>
          <a:solidFill>
            <a:srgbClr val="2F6B3B"/>
          </a:solidFill>
          <a:ln w="12700">
            <a:solidFill>
              <a:srgbClr val="2F6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6–12 мес.</a:t>
            </a:r>
            <a:endParaRPr lang="en-US" sz="1300" dirty="0"/>
          </a:p>
        </p:txBody>
      </p:sp>
      <p:sp>
        <p:nvSpPr>
          <p:cNvPr id="15" name="card Шаги"/>
          <p:cNvSpPr/>
          <p:nvPr/>
        </p:nvSpPr>
        <p:spPr>
          <a:xfrm>
            <a:off x="8046720" y="210312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212848"/>
            <a:ext cx="3291840" cy="179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Шаги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Подарочная линия к Новому году 2027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Масштабировать то, что прошло пилот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Повторный замер знания и конверсии</a:t>
            </a:r>
            <a:endParaRPr lang="en-US" sz="1600" dirty="0"/>
          </a:p>
        </p:txBody>
      </p:sp>
      <p:sp>
        <p:nvSpPr>
          <p:cNvPr id="17" name="card Что проверить, чтобы"/>
          <p:cNvSpPr/>
          <p:nvPr/>
        </p:nvSpPr>
        <p:spPr>
          <a:xfrm>
            <a:off x="548640" y="4297680"/>
            <a:ext cx="110642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407408"/>
            <a:ext cx="10789920" cy="1655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Что проверить, чтобы не ошибиться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Добрать в выборку 55+: сейчас их ≈10% при 36% в населении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Проверить «готовность к пользе» тестом на полке: декларация 72–80% может не подтвердиться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Ценовой тест премии за ГОСТ: 5% и 10%</a:t>
            </a:r>
            <a:endParaRPr lang="en-US" sz="16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Отдельный тест концепции «Гостинца» в РФ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Все цифры — из репозитория Osmosy/consumer-research; ссылка: колода и номер слайда</a:t>
            </a:r>
            <a:endParaRPr lang="en-US" sz="1500" dirty="0"/>
          </a:p>
        </p:txBody>
      </p:sp>
      <p:graphicFrame>
        <p:nvGraphicFramePr>
          <p:cNvPr id="26" name="sour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Колода (папка в decks/)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Что взято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inkofood-2026 — Инкофуд, Исследование потребителя, октябрь 2026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Основа: U&amp;A, упаковка, новинки, бренды, неймы (сл. 2–68)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nielsen-fmcg-do-avgusta-2026 — Нильсен, FMCG до августа 2026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Динамика рынка, каналов, мяса, СТМ, онлайн (сл. 3–16)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nielsen-itogi-2025-vektory-2026 — Нильсен, итоги 2025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Оптимизм, ассортимент, новинки, протеин, СТМ, бренды (сл. 3–38)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romir-trendy-2026 — РОМИР, тренды 2026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ИПУ, ценности, СТМ, каналы, миссии, сегменты (сл. 7–44)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sbermarket-serebryanyy-vozrast-2026 — СберМаркетинг, 55+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Лояльность, местные продукты, источники информации (сл. 2–29)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sbermarket-globalnye-trendy-2026 — СберМаркетинг, тренды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Честность, доказательства, здоровье, традиции, AI-поиск (сл. 7–32)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ekopsi-debaty-pro-pokoleniya — ЭКОПСИ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Отсутствие различий между поколениями (сл. 19)</a:t>
                      </a:r>
                      <a:endParaRPr lang="en-US" sz="16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F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ofood Insight">
  <a:themeElements>
    <a:clrScheme name="Inkofood Insight">
      <a:dk1>
        <a:srgbClr val="222222"/>
      </a:dk1>
      <a:lt1>
        <a:srgbClr val="FFFFFF"/>
      </a:lt1>
      <a:dk2>
        <a:srgbClr val="4A121B"/>
      </a:dk2>
      <a:lt2>
        <a:srgbClr val="F6F0F0"/>
      </a:lt2>
      <a:accent1>
        <a:srgbClr val="8C2232"/>
      </a:accent1>
      <a:accent2>
        <a:srgbClr val="2F6B3B"/>
      </a:accent2>
      <a:accent3>
        <a:srgbClr val="B07D12"/>
      </a:accent3>
      <a:accent4>
        <a:srgbClr val="5E6B78"/>
      </a:accent4>
      <a:accent5>
        <a:srgbClr val="E7C9CD"/>
      </a:accent5>
      <a:accent6>
        <a:srgbClr val="D6E6D5"/>
      </a:accent6>
      <a:hlink>
        <a:srgbClr val="8C2232"/>
      </a:hlink>
      <a:folHlink>
        <a:srgbClr val="5E6B78"/>
      </a:folHlink>
    </a:clrScheme>
    <a:fontScheme name="Inkofood Ins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Инкофуд: выводы и предложения по брендам</dc:title>
  <dc:subject>PptxGenJS Presentation</dc:subject>
  <dc:creator>Анализ репозитория Consumer-research</dc:creator>
  <cp:lastModifiedBy>Анализ репозитория Consumer-research</cp:lastModifiedBy>
  <cp:revision>1</cp:revision>
  <dcterms:created xsi:type="dcterms:W3CDTF">2026-10-25T05:27:48Z</dcterms:created>
  <dcterms:modified xsi:type="dcterms:W3CDTF">2026-10-25T05:27:48Z</dcterms:modified>
</cp:coreProperties>
</file>